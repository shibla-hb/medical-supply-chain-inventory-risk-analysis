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p:scale>
          <a:sx n="100" d="100"/>
          <a:sy n="100" d="100"/>
        </p:scale>
        <p:origin x="58"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35396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85041"/>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F6E56">
              <a:alpha val="40000"/>
            </a:srgbClr>
          </a:solidFill>
          <a:ln/>
        </p:spPr>
      </p:sp>
      <p:sp>
        <p:nvSpPr>
          <p:cNvPr id="3" name="Shape 1"/>
          <p:cNvSpPr/>
          <p:nvPr/>
        </p:nvSpPr>
        <p:spPr>
          <a:xfrm>
            <a:off x="-1371600" y="4754880"/>
            <a:ext cx="3657600" cy="3657600"/>
          </a:xfrm>
          <a:prstGeom prst="ellipse">
            <a:avLst/>
          </a:prstGeom>
          <a:solidFill>
            <a:srgbClr val="0F6E56">
              <a:alpha val="40000"/>
            </a:srgbClr>
          </a:solidFill>
          <a:ln/>
        </p:spPr>
      </p:sp>
      <p:sp>
        <p:nvSpPr>
          <p:cNvPr id="4" name="Text 2"/>
          <p:cNvSpPr/>
          <p:nvPr/>
        </p:nvSpPr>
        <p:spPr>
          <a:xfrm>
            <a:off x="822960" y="2011680"/>
            <a:ext cx="10515600" cy="457200"/>
          </a:xfrm>
          <a:prstGeom prst="rect">
            <a:avLst/>
          </a:prstGeom>
          <a:noFill/>
          <a:ln/>
        </p:spPr>
        <p:txBody>
          <a:bodyPr wrap="square" rtlCol="0" anchor="ctr"/>
          <a:lstStyle/>
          <a:p>
            <a:pPr marL="0" indent="0">
              <a:buNone/>
            </a:pPr>
            <a:r>
              <a:rPr lang="en-US" sz="1600" b="1" kern="0" spc="300" dirty="0">
                <a:solidFill>
                  <a:srgbClr val="5DCAA5"/>
                </a:solidFill>
                <a:latin typeface="Calibri" pitchFamily="34" charset="0"/>
                <a:ea typeface="Calibri" pitchFamily="34" charset="-122"/>
                <a:cs typeface="Calibri" pitchFamily="34" charset="-120"/>
              </a:rPr>
              <a:t>MEDICAL SUPPLY CHAIN</a:t>
            </a:r>
            <a:endParaRPr lang="en-US" sz="1600" dirty="0"/>
          </a:p>
        </p:txBody>
      </p:sp>
      <p:sp>
        <p:nvSpPr>
          <p:cNvPr id="5" name="Text 3"/>
          <p:cNvSpPr/>
          <p:nvPr/>
        </p:nvSpPr>
        <p:spPr>
          <a:xfrm>
            <a:off x="822960" y="2468880"/>
            <a:ext cx="10515600" cy="1097280"/>
          </a:xfrm>
          <a:prstGeom prst="rect">
            <a:avLst/>
          </a:prstGeom>
          <a:noFill/>
          <a:ln/>
        </p:spPr>
        <p:txBody>
          <a:bodyPr wrap="square"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Inventory Risk &amp; Revenue Analysis</a:t>
            </a:r>
            <a:endParaRPr lang="en-US" sz="4400" dirty="0"/>
          </a:p>
        </p:txBody>
      </p:sp>
      <p:sp>
        <p:nvSpPr>
          <p:cNvPr id="6" name="Text 4"/>
          <p:cNvSpPr/>
          <p:nvPr/>
        </p:nvSpPr>
        <p:spPr>
          <a:xfrm>
            <a:off x="822960" y="3520440"/>
            <a:ext cx="10058400" cy="457200"/>
          </a:xfrm>
          <a:prstGeom prst="rect">
            <a:avLst/>
          </a:prstGeom>
          <a:noFill/>
          <a:ln/>
        </p:spPr>
        <p:txBody>
          <a:bodyPr wrap="square" rtlCol="0" anchor="ctr"/>
          <a:lstStyle/>
          <a:p>
            <a:pPr marL="0" indent="0">
              <a:buNone/>
            </a:pPr>
            <a:r>
              <a:rPr lang="en-US" sz="1500" dirty="0">
                <a:solidFill>
                  <a:srgbClr val="E1F5EE"/>
                </a:solidFill>
                <a:latin typeface="Calibri" pitchFamily="34" charset="0"/>
                <a:ea typeface="Calibri" pitchFamily="34" charset="-122"/>
                <a:cs typeface="Calibri" pitchFamily="34" charset="-120"/>
              </a:rPr>
              <a:t>A Power BI Project</a:t>
            </a:r>
            <a:endParaRPr lang="en-US" sz="1500" dirty="0"/>
          </a:p>
        </p:txBody>
      </p:sp>
      <p:sp>
        <p:nvSpPr>
          <p:cNvPr id="7" name="Shape 5"/>
          <p:cNvSpPr/>
          <p:nvPr/>
        </p:nvSpPr>
        <p:spPr>
          <a:xfrm>
            <a:off x="822960" y="4160520"/>
            <a:ext cx="2011680" cy="0"/>
          </a:xfrm>
          <a:prstGeom prst="line">
            <a:avLst/>
          </a:prstGeom>
          <a:noFill/>
          <a:ln w="25400">
            <a:solidFill>
              <a:srgbClr val="5DCAA5"/>
            </a:solidFill>
            <a:prstDash val="solid"/>
          </a:ln>
        </p:spPr>
      </p:sp>
      <p:sp>
        <p:nvSpPr>
          <p:cNvPr id="8" name="Text 6"/>
          <p:cNvSpPr/>
          <p:nvPr/>
        </p:nvSpPr>
        <p:spPr>
          <a:xfrm>
            <a:off x="822960" y="5806440"/>
            <a:ext cx="5486400" cy="320040"/>
          </a:xfrm>
          <a:prstGeom prst="rect">
            <a:avLst/>
          </a:prstGeom>
          <a:noFill/>
          <a:ln/>
        </p:spPr>
        <p:txBody>
          <a:bodyPr wrap="square" rtlCol="0" anchor="ctr"/>
          <a:lstStyle/>
          <a:p>
            <a:pPr marL="0" indent="0">
              <a:buNone/>
            </a:pPr>
            <a:r>
              <a:rPr lang="en-US" sz="1100" dirty="0">
                <a:solidFill>
                  <a:srgbClr val="E1F5EE"/>
                </a:solidFill>
                <a:latin typeface="Calibri" pitchFamily="34" charset="0"/>
                <a:ea typeface="Calibri" pitchFamily="34" charset="-122"/>
                <a:cs typeface="Calibri" pitchFamily="34" charset="-120"/>
              </a:rPr>
              <a:t>Submitted by</a:t>
            </a:r>
            <a:endParaRPr lang="en-US" sz="1100" dirty="0"/>
          </a:p>
        </p:txBody>
      </p:sp>
      <p:sp>
        <p:nvSpPr>
          <p:cNvPr id="9" name="Text 7"/>
          <p:cNvSpPr/>
          <p:nvPr/>
        </p:nvSpPr>
        <p:spPr>
          <a:xfrm>
            <a:off x="822960" y="6080760"/>
            <a:ext cx="54864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Shibla Nasreen</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Introduction</a:t>
            </a:r>
            <a:endParaRPr lang="en-US" sz="3200" dirty="0"/>
          </a:p>
        </p:txBody>
      </p:sp>
      <p:sp>
        <p:nvSpPr>
          <p:cNvPr id="3" name="Text 1"/>
          <p:cNvSpPr/>
          <p:nvPr/>
        </p:nvSpPr>
        <p:spPr>
          <a:xfrm>
            <a:off x="640080" y="1280160"/>
            <a:ext cx="10881360" cy="1371600"/>
          </a:xfrm>
          <a:prstGeom prst="rect">
            <a:avLst/>
          </a:prstGeom>
          <a:noFill/>
          <a:ln/>
        </p:spPr>
        <p:txBody>
          <a:bodyPr wrap="square" rtlCol="0" anchor="ctr"/>
          <a:lstStyle/>
          <a:p>
            <a:pPr marL="0" indent="0">
              <a:lnSpc>
                <a:spcPct val="140000"/>
              </a:lnSpc>
              <a:buNone/>
            </a:pPr>
            <a:r>
              <a:rPr lang="en-US" sz="1500" dirty="0">
                <a:solidFill>
                  <a:srgbClr val="2C2C2A"/>
                </a:solidFill>
                <a:latin typeface="Calibri" pitchFamily="34" charset="0"/>
                <a:ea typeface="Calibri" pitchFamily="34" charset="-122"/>
                <a:cs typeface="Calibri" pitchFamily="34" charset="-120"/>
              </a:rPr>
              <a:t>Supply chain analytics helps organizations understand how products move from supplier to customer, and where risk, delay, or inefficiency enters that flow. In healthcare and medical retail, this matters even more directly — a stockout isn't just a lost sale, it can mean a delayed procedure or an unavailable treatment.</a:t>
            </a:r>
            <a:endParaRPr lang="en-US" sz="1500" dirty="0"/>
          </a:p>
        </p:txBody>
      </p:sp>
      <p:sp>
        <p:nvSpPr>
          <p:cNvPr id="4" name="Text 2"/>
          <p:cNvSpPr/>
          <p:nvPr/>
        </p:nvSpPr>
        <p:spPr>
          <a:xfrm>
            <a:off x="640080" y="2788920"/>
            <a:ext cx="10881360" cy="1371600"/>
          </a:xfrm>
          <a:prstGeom prst="rect">
            <a:avLst/>
          </a:prstGeom>
          <a:noFill/>
          <a:ln/>
        </p:spPr>
        <p:txBody>
          <a:bodyPr wrap="square" rtlCol="0" anchor="ctr"/>
          <a:lstStyle/>
          <a:p>
            <a:pPr marL="0" indent="0">
              <a:lnSpc>
                <a:spcPct val="140000"/>
              </a:lnSpc>
              <a:buNone/>
            </a:pPr>
            <a:r>
              <a:rPr lang="en-US" sz="1500" dirty="0">
                <a:solidFill>
                  <a:srgbClr val="2C2C2A"/>
                </a:solidFill>
                <a:latin typeface="Calibri" pitchFamily="34" charset="0"/>
                <a:ea typeface="Calibri" pitchFamily="34" charset="-122"/>
                <a:cs typeface="Calibri" pitchFamily="34" charset="-120"/>
              </a:rPr>
              <a:t>This project analyzes one year of transaction data from a medical and optical retail supplier, using Power BI to build an interactive dashboard that tracks revenue performance, flags at-risk inventory, and connects supplier lead time to business risk — turning 1,415 raw transaction records into a tool decision-makers can use.</a:t>
            </a:r>
            <a:endParaRPr lang="en-US" sz="1500" dirty="0"/>
          </a:p>
        </p:txBody>
      </p:sp>
      <p:sp>
        <p:nvSpPr>
          <p:cNvPr id="5" name="Shape 3"/>
          <p:cNvSpPr/>
          <p:nvPr/>
        </p:nvSpPr>
        <p:spPr>
          <a:xfrm>
            <a:off x="640080" y="4434840"/>
            <a:ext cx="10881360" cy="1417320"/>
          </a:xfrm>
          <a:prstGeom prst="roundRect">
            <a:avLst>
              <a:gd name="adj" fmla="val 5161"/>
            </a:avLst>
          </a:prstGeom>
          <a:solidFill>
            <a:srgbClr val="E1F5EE"/>
          </a:solidFill>
          <a:ln/>
        </p:spPr>
      </p:sp>
      <p:sp>
        <p:nvSpPr>
          <p:cNvPr id="6" name="Text 4"/>
          <p:cNvSpPr/>
          <p:nvPr/>
        </p:nvSpPr>
        <p:spPr>
          <a:xfrm>
            <a:off x="914400" y="4663440"/>
            <a:ext cx="10332720" cy="1005840"/>
          </a:xfrm>
          <a:prstGeom prst="rect">
            <a:avLst/>
          </a:prstGeom>
          <a:noFill/>
          <a:ln/>
        </p:spPr>
        <p:txBody>
          <a:bodyPr wrap="square" rtlCol="0" anchor="ctr"/>
          <a:lstStyle/>
          <a:p>
            <a:pPr marL="0" indent="0">
              <a:lnSpc>
                <a:spcPct val="130000"/>
              </a:lnSpc>
              <a:buNone/>
            </a:pPr>
            <a:r>
              <a:rPr lang="en-US" sz="1300" i="1" dirty="0">
                <a:solidFill>
                  <a:srgbClr val="085041"/>
                </a:solidFill>
                <a:latin typeface="Calibri" pitchFamily="34" charset="0"/>
                <a:ea typeface="Calibri" pitchFamily="34" charset="-122"/>
                <a:cs typeface="Calibri" pitchFamily="34" charset="-120"/>
              </a:rPr>
              <a:t>By analyzing patterns such as revenue by category, stock levels against reorder points, and supplier lead time, the dashboard empowers inventory managers and decision-makers to prioritize restocking and reduce stockout risk with real, current data.</a:t>
            </a:r>
            <a:endParaRPr lang="en-US" sz="1300" dirty="0"/>
          </a:p>
        </p:txBody>
      </p:sp>
      <p:sp>
        <p:nvSpPr>
          <p:cNvPr id="7" name="Text 5"/>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8" name="Text 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Objectives of the Study</a:t>
            </a:r>
            <a:endParaRPr lang="en-US" sz="3200" dirty="0"/>
          </a:p>
        </p:txBody>
      </p:sp>
      <p:sp>
        <p:nvSpPr>
          <p:cNvPr id="3" name="Shape 1"/>
          <p:cNvSpPr/>
          <p:nvPr/>
        </p:nvSpPr>
        <p:spPr>
          <a:xfrm>
            <a:off x="640080" y="1554480"/>
            <a:ext cx="5349240" cy="1874520"/>
          </a:xfrm>
          <a:prstGeom prst="roundRect">
            <a:avLst>
              <a:gd name="adj" fmla="val 3902"/>
            </a:avLst>
          </a:prstGeom>
          <a:solidFill>
            <a:srgbClr val="E1F5EE"/>
          </a:solidFill>
          <a:ln/>
        </p:spPr>
      </p:sp>
      <p:sp>
        <p:nvSpPr>
          <p:cNvPr id="4" name="Shape 2"/>
          <p:cNvSpPr/>
          <p:nvPr/>
        </p:nvSpPr>
        <p:spPr>
          <a:xfrm>
            <a:off x="914400" y="1828800"/>
            <a:ext cx="457200" cy="457200"/>
          </a:xfrm>
          <a:prstGeom prst="roundRect">
            <a:avLst>
              <a:gd name="adj" fmla="val 16000"/>
            </a:avLst>
          </a:prstGeom>
          <a:solidFill>
            <a:srgbClr val="085041"/>
          </a:solidFill>
          <a:ln/>
        </p:spPr>
      </p:sp>
      <p:sp>
        <p:nvSpPr>
          <p:cNvPr id="5" name="Text 3"/>
          <p:cNvSpPr/>
          <p:nvPr/>
        </p:nvSpPr>
        <p:spPr>
          <a:xfrm>
            <a:off x="914400" y="1828800"/>
            <a:ext cx="457200" cy="457200"/>
          </a:xfrm>
          <a:prstGeom prst="rect">
            <a:avLst/>
          </a:prstGeom>
          <a:noFill/>
          <a:ln/>
        </p:spPr>
        <p:txBody>
          <a:bodyPr wrap="square" rtlCol="0" anchor="ctr"/>
          <a:lstStyle/>
          <a:p>
            <a:pPr marL="0" indent="0" algn="ctr">
              <a:buNone/>
            </a:pPr>
            <a:r>
              <a:rPr lang="en-US" sz="1800" b="1" dirty="0">
                <a:solidFill>
                  <a:srgbClr val="5DCAA5"/>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914400" y="2423160"/>
            <a:ext cx="4800600" cy="365760"/>
          </a:xfrm>
          <a:prstGeom prst="rect">
            <a:avLst/>
          </a:prstGeom>
          <a:noFill/>
          <a:ln/>
        </p:spPr>
        <p:txBody>
          <a:bodyPr wrap="square" rtlCol="0" anchor="ctr"/>
          <a:lstStyle/>
          <a:p>
            <a:pPr marL="0" indent="0">
              <a:buNone/>
            </a:pPr>
            <a:r>
              <a:rPr lang="en-US" sz="1450" b="1" dirty="0">
                <a:solidFill>
                  <a:srgbClr val="085041"/>
                </a:solidFill>
                <a:latin typeface="Calibri" pitchFamily="34" charset="0"/>
                <a:ea typeface="Calibri" pitchFamily="34" charset="-122"/>
                <a:cs typeface="Calibri" pitchFamily="34" charset="-120"/>
              </a:rPr>
              <a:t>Identify revenue drivers</a:t>
            </a:r>
            <a:endParaRPr lang="en-US" sz="1450" dirty="0"/>
          </a:p>
        </p:txBody>
      </p:sp>
      <p:sp>
        <p:nvSpPr>
          <p:cNvPr id="7" name="Text 5"/>
          <p:cNvSpPr/>
          <p:nvPr/>
        </p:nvSpPr>
        <p:spPr>
          <a:xfrm>
            <a:off x="914400" y="2788920"/>
            <a:ext cx="4800600" cy="548640"/>
          </a:xfrm>
          <a:prstGeom prst="rect">
            <a:avLst/>
          </a:prstGeom>
          <a:noFill/>
          <a:ln/>
        </p:spPr>
        <p:txBody>
          <a:bodyPr wrap="square" rtlCol="0" anchor="ctr"/>
          <a:lstStyle/>
          <a:p>
            <a:pPr marL="0" indent="0">
              <a:lnSpc>
                <a:spcPct val="125000"/>
              </a:lnSpc>
              <a:buNone/>
            </a:pPr>
            <a:r>
              <a:rPr lang="en-US" sz="1150" dirty="0">
                <a:solidFill>
                  <a:srgbClr val="2C2C2A"/>
                </a:solidFill>
                <a:latin typeface="Calibri" pitchFamily="34" charset="0"/>
                <a:ea typeface="Calibri" pitchFamily="34" charset="-122"/>
                <a:cs typeface="Calibri" pitchFamily="34" charset="-120"/>
              </a:rPr>
              <a:t>Which products, categories, and regions generate the most revenue — and why.</a:t>
            </a:r>
            <a:endParaRPr lang="en-US" sz="1150" dirty="0"/>
          </a:p>
        </p:txBody>
      </p:sp>
      <p:sp>
        <p:nvSpPr>
          <p:cNvPr id="8" name="Shape 6"/>
          <p:cNvSpPr/>
          <p:nvPr/>
        </p:nvSpPr>
        <p:spPr>
          <a:xfrm>
            <a:off x="6263640" y="1554480"/>
            <a:ext cx="5349240" cy="1874520"/>
          </a:xfrm>
          <a:prstGeom prst="roundRect">
            <a:avLst>
              <a:gd name="adj" fmla="val 3902"/>
            </a:avLst>
          </a:prstGeom>
          <a:solidFill>
            <a:srgbClr val="E1F5EE"/>
          </a:solidFill>
          <a:ln/>
        </p:spPr>
      </p:sp>
      <p:sp>
        <p:nvSpPr>
          <p:cNvPr id="9" name="Shape 7"/>
          <p:cNvSpPr/>
          <p:nvPr/>
        </p:nvSpPr>
        <p:spPr>
          <a:xfrm>
            <a:off x="6537960" y="1828800"/>
            <a:ext cx="457200" cy="457200"/>
          </a:xfrm>
          <a:prstGeom prst="roundRect">
            <a:avLst>
              <a:gd name="adj" fmla="val 16000"/>
            </a:avLst>
          </a:prstGeom>
          <a:solidFill>
            <a:srgbClr val="085041"/>
          </a:solidFill>
          <a:ln/>
        </p:spPr>
      </p:sp>
      <p:sp>
        <p:nvSpPr>
          <p:cNvPr id="10" name="Text 8"/>
          <p:cNvSpPr/>
          <p:nvPr/>
        </p:nvSpPr>
        <p:spPr>
          <a:xfrm>
            <a:off x="6537960" y="1828800"/>
            <a:ext cx="457200" cy="457200"/>
          </a:xfrm>
          <a:prstGeom prst="rect">
            <a:avLst/>
          </a:prstGeom>
          <a:noFill/>
          <a:ln/>
        </p:spPr>
        <p:txBody>
          <a:bodyPr wrap="square" rtlCol="0" anchor="ctr"/>
          <a:lstStyle/>
          <a:p>
            <a:pPr marL="0" indent="0" algn="ctr">
              <a:buNone/>
            </a:pPr>
            <a:r>
              <a:rPr lang="en-US" sz="1800" b="1" dirty="0">
                <a:solidFill>
                  <a:srgbClr val="5DCAA5"/>
                </a:solidFill>
                <a:latin typeface="Cambria" pitchFamily="34" charset="0"/>
                <a:ea typeface="Cambria" pitchFamily="34" charset="-122"/>
                <a:cs typeface="Cambria" pitchFamily="34" charset="-120"/>
              </a:rPr>
              <a:t>2</a:t>
            </a:r>
            <a:endParaRPr lang="en-US" sz="1800" dirty="0"/>
          </a:p>
        </p:txBody>
      </p:sp>
      <p:sp>
        <p:nvSpPr>
          <p:cNvPr id="11" name="Text 9"/>
          <p:cNvSpPr/>
          <p:nvPr/>
        </p:nvSpPr>
        <p:spPr>
          <a:xfrm>
            <a:off x="6537960" y="2423160"/>
            <a:ext cx="4800600" cy="365760"/>
          </a:xfrm>
          <a:prstGeom prst="rect">
            <a:avLst/>
          </a:prstGeom>
          <a:noFill/>
          <a:ln/>
        </p:spPr>
        <p:txBody>
          <a:bodyPr wrap="square" rtlCol="0" anchor="ctr"/>
          <a:lstStyle/>
          <a:p>
            <a:pPr marL="0" indent="0">
              <a:buNone/>
            </a:pPr>
            <a:r>
              <a:rPr lang="en-US" sz="1450" b="1" dirty="0">
                <a:solidFill>
                  <a:srgbClr val="085041"/>
                </a:solidFill>
                <a:latin typeface="Calibri" pitchFamily="34" charset="0"/>
                <a:ea typeface="Calibri" pitchFamily="34" charset="-122"/>
                <a:cs typeface="Calibri" pitchFamily="34" charset="-120"/>
              </a:rPr>
              <a:t>Quantify inventory risk</a:t>
            </a:r>
            <a:endParaRPr lang="en-US" sz="1450" dirty="0"/>
          </a:p>
        </p:txBody>
      </p:sp>
      <p:sp>
        <p:nvSpPr>
          <p:cNvPr id="12" name="Text 10"/>
          <p:cNvSpPr/>
          <p:nvPr/>
        </p:nvSpPr>
        <p:spPr>
          <a:xfrm>
            <a:off x="6537960" y="2788920"/>
            <a:ext cx="4800600" cy="548640"/>
          </a:xfrm>
          <a:prstGeom prst="rect">
            <a:avLst/>
          </a:prstGeom>
          <a:noFill/>
          <a:ln/>
        </p:spPr>
        <p:txBody>
          <a:bodyPr wrap="square" rtlCol="0" anchor="ctr"/>
          <a:lstStyle/>
          <a:p>
            <a:pPr marL="0" indent="0">
              <a:lnSpc>
                <a:spcPct val="125000"/>
              </a:lnSpc>
              <a:buNone/>
            </a:pPr>
            <a:r>
              <a:rPr lang="en-US" sz="1150" dirty="0">
                <a:solidFill>
                  <a:srgbClr val="2C2C2A"/>
                </a:solidFill>
                <a:latin typeface="Calibri" pitchFamily="34" charset="0"/>
                <a:ea typeface="Calibri" pitchFamily="34" charset="-122"/>
                <a:cs typeface="Calibri" pitchFamily="34" charset="-120"/>
              </a:rPr>
              <a:t>Which SKUs are below their reorder point right now, and how severe the shortfall is.</a:t>
            </a:r>
            <a:endParaRPr lang="en-US" sz="1150" dirty="0"/>
          </a:p>
        </p:txBody>
      </p:sp>
      <p:sp>
        <p:nvSpPr>
          <p:cNvPr id="13" name="Shape 11"/>
          <p:cNvSpPr/>
          <p:nvPr/>
        </p:nvSpPr>
        <p:spPr>
          <a:xfrm>
            <a:off x="640080" y="3657600"/>
            <a:ext cx="5349240" cy="1874520"/>
          </a:xfrm>
          <a:prstGeom prst="roundRect">
            <a:avLst>
              <a:gd name="adj" fmla="val 3902"/>
            </a:avLst>
          </a:prstGeom>
          <a:solidFill>
            <a:srgbClr val="E1F5EE"/>
          </a:solidFill>
          <a:ln/>
        </p:spPr>
      </p:sp>
      <p:sp>
        <p:nvSpPr>
          <p:cNvPr id="14" name="Shape 12"/>
          <p:cNvSpPr/>
          <p:nvPr/>
        </p:nvSpPr>
        <p:spPr>
          <a:xfrm>
            <a:off x="914400" y="3931920"/>
            <a:ext cx="457200" cy="457200"/>
          </a:xfrm>
          <a:prstGeom prst="roundRect">
            <a:avLst>
              <a:gd name="adj" fmla="val 16000"/>
            </a:avLst>
          </a:prstGeom>
          <a:solidFill>
            <a:srgbClr val="085041"/>
          </a:solidFill>
          <a:ln/>
        </p:spPr>
      </p:sp>
      <p:sp>
        <p:nvSpPr>
          <p:cNvPr id="15" name="Text 13"/>
          <p:cNvSpPr/>
          <p:nvPr/>
        </p:nvSpPr>
        <p:spPr>
          <a:xfrm>
            <a:off x="914400" y="3931920"/>
            <a:ext cx="457200" cy="457200"/>
          </a:xfrm>
          <a:prstGeom prst="rect">
            <a:avLst/>
          </a:prstGeom>
          <a:noFill/>
          <a:ln/>
        </p:spPr>
        <p:txBody>
          <a:bodyPr wrap="square" rtlCol="0" anchor="ctr"/>
          <a:lstStyle/>
          <a:p>
            <a:pPr marL="0" indent="0" algn="ctr">
              <a:buNone/>
            </a:pPr>
            <a:r>
              <a:rPr lang="en-US" sz="1800" b="1" dirty="0">
                <a:solidFill>
                  <a:srgbClr val="5DCAA5"/>
                </a:solidFill>
                <a:latin typeface="Cambria" pitchFamily="34" charset="0"/>
                <a:ea typeface="Cambria" pitchFamily="34" charset="-122"/>
                <a:cs typeface="Cambria" pitchFamily="34" charset="-120"/>
              </a:rPr>
              <a:t>3</a:t>
            </a:r>
            <a:endParaRPr lang="en-US" sz="1800" dirty="0"/>
          </a:p>
        </p:txBody>
      </p:sp>
      <p:sp>
        <p:nvSpPr>
          <p:cNvPr id="16" name="Text 14"/>
          <p:cNvSpPr/>
          <p:nvPr/>
        </p:nvSpPr>
        <p:spPr>
          <a:xfrm>
            <a:off x="914400" y="4526280"/>
            <a:ext cx="4800600" cy="365760"/>
          </a:xfrm>
          <a:prstGeom prst="rect">
            <a:avLst/>
          </a:prstGeom>
          <a:noFill/>
          <a:ln/>
        </p:spPr>
        <p:txBody>
          <a:bodyPr wrap="square" rtlCol="0" anchor="ctr"/>
          <a:lstStyle/>
          <a:p>
            <a:pPr marL="0" indent="0">
              <a:buNone/>
            </a:pPr>
            <a:r>
              <a:rPr lang="en-US" sz="1450" b="1" dirty="0">
                <a:solidFill>
                  <a:srgbClr val="085041"/>
                </a:solidFill>
                <a:latin typeface="Calibri" pitchFamily="34" charset="0"/>
                <a:ea typeface="Calibri" pitchFamily="34" charset="-122"/>
                <a:cs typeface="Calibri" pitchFamily="34" charset="-120"/>
              </a:rPr>
              <a:t>Connect risk to operations</a:t>
            </a:r>
            <a:endParaRPr lang="en-US" sz="1450" dirty="0"/>
          </a:p>
        </p:txBody>
      </p:sp>
      <p:sp>
        <p:nvSpPr>
          <p:cNvPr id="17" name="Text 15"/>
          <p:cNvSpPr/>
          <p:nvPr/>
        </p:nvSpPr>
        <p:spPr>
          <a:xfrm>
            <a:off x="914400" y="4892040"/>
            <a:ext cx="4800600" cy="548640"/>
          </a:xfrm>
          <a:prstGeom prst="rect">
            <a:avLst/>
          </a:prstGeom>
          <a:noFill/>
          <a:ln/>
        </p:spPr>
        <p:txBody>
          <a:bodyPr wrap="square" rtlCol="0" anchor="ctr"/>
          <a:lstStyle/>
          <a:p>
            <a:pPr marL="0" indent="0">
              <a:lnSpc>
                <a:spcPct val="125000"/>
              </a:lnSpc>
              <a:buNone/>
            </a:pPr>
            <a:r>
              <a:rPr lang="en-US" sz="1150" dirty="0">
                <a:solidFill>
                  <a:srgbClr val="2C2C2A"/>
                </a:solidFill>
                <a:latin typeface="Calibri" pitchFamily="34" charset="0"/>
                <a:ea typeface="Calibri" pitchFamily="34" charset="-122"/>
                <a:cs typeface="Calibri" pitchFamily="34" charset="-120"/>
              </a:rPr>
              <a:t>Whether supplier lead time is actually driving the High Risk classification, or unrelated.</a:t>
            </a:r>
            <a:endParaRPr lang="en-US" sz="1150" dirty="0"/>
          </a:p>
        </p:txBody>
      </p:sp>
      <p:sp>
        <p:nvSpPr>
          <p:cNvPr id="18" name="Shape 16"/>
          <p:cNvSpPr/>
          <p:nvPr/>
        </p:nvSpPr>
        <p:spPr>
          <a:xfrm>
            <a:off x="6263640" y="3657600"/>
            <a:ext cx="5349240" cy="1874520"/>
          </a:xfrm>
          <a:prstGeom prst="roundRect">
            <a:avLst>
              <a:gd name="adj" fmla="val 3902"/>
            </a:avLst>
          </a:prstGeom>
          <a:solidFill>
            <a:srgbClr val="E1F5EE"/>
          </a:solidFill>
          <a:ln/>
        </p:spPr>
      </p:sp>
      <p:sp>
        <p:nvSpPr>
          <p:cNvPr id="19" name="Shape 17"/>
          <p:cNvSpPr/>
          <p:nvPr/>
        </p:nvSpPr>
        <p:spPr>
          <a:xfrm>
            <a:off x="6537960" y="3931920"/>
            <a:ext cx="457200" cy="457200"/>
          </a:xfrm>
          <a:prstGeom prst="roundRect">
            <a:avLst>
              <a:gd name="adj" fmla="val 16000"/>
            </a:avLst>
          </a:prstGeom>
          <a:solidFill>
            <a:srgbClr val="085041"/>
          </a:solidFill>
          <a:ln/>
        </p:spPr>
      </p:sp>
      <p:sp>
        <p:nvSpPr>
          <p:cNvPr id="20" name="Text 18"/>
          <p:cNvSpPr/>
          <p:nvPr/>
        </p:nvSpPr>
        <p:spPr>
          <a:xfrm>
            <a:off x="6537960" y="3931920"/>
            <a:ext cx="457200" cy="457200"/>
          </a:xfrm>
          <a:prstGeom prst="rect">
            <a:avLst/>
          </a:prstGeom>
          <a:noFill/>
          <a:ln/>
        </p:spPr>
        <p:txBody>
          <a:bodyPr wrap="square" rtlCol="0" anchor="ctr"/>
          <a:lstStyle/>
          <a:p>
            <a:pPr marL="0" indent="0" algn="ctr">
              <a:buNone/>
            </a:pPr>
            <a:r>
              <a:rPr lang="en-US" sz="1800" b="1" dirty="0">
                <a:solidFill>
                  <a:srgbClr val="5DCAA5"/>
                </a:solidFill>
                <a:latin typeface="Cambria" pitchFamily="34" charset="0"/>
                <a:ea typeface="Cambria" pitchFamily="34" charset="-122"/>
                <a:cs typeface="Cambria" pitchFamily="34" charset="-120"/>
              </a:rPr>
              <a:t>4</a:t>
            </a:r>
            <a:endParaRPr lang="en-US" sz="1800" dirty="0"/>
          </a:p>
        </p:txBody>
      </p:sp>
      <p:sp>
        <p:nvSpPr>
          <p:cNvPr id="21" name="Text 19"/>
          <p:cNvSpPr/>
          <p:nvPr/>
        </p:nvSpPr>
        <p:spPr>
          <a:xfrm>
            <a:off x="6537960" y="4526280"/>
            <a:ext cx="4800600" cy="365760"/>
          </a:xfrm>
          <a:prstGeom prst="rect">
            <a:avLst/>
          </a:prstGeom>
          <a:noFill/>
          <a:ln/>
        </p:spPr>
        <p:txBody>
          <a:bodyPr wrap="square" rtlCol="0" anchor="ctr"/>
          <a:lstStyle/>
          <a:p>
            <a:pPr marL="0" indent="0">
              <a:buNone/>
            </a:pPr>
            <a:r>
              <a:rPr lang="en-US" sz="1450" b="1" dirty="0">
                <a:solidFill>
                  <a:srgbClr val="085041"/>
                </a:solidFill>
                <a:latin typeface="Calibri" pitchFamily="34" charset="0"/>
                <a:ea typeface="Calibri" pitchFamily="34" charset="-122"/>
                <a:cs typeface="Calibri" pitchFamily="34" charset="-120"/>
              </a:rPr>
              <a:t>Support real decisions</a:t>
            </a:r>
            <a:endParaRPr lang="en-US" sz="1450" dirty="0"/>
          </a:p>
        </p:txBody>
      </p:sp>
      <p:sp>
        <p:nvSpPr>
          <p:cNvPr id="22" name="Text 20"/>
          <p:cNvSpPr/>
          <p:nvPr/>
        </p:nvSpPr>
        <p:spPr>
          <a:xfrm>
            <a:off x="6537960" y="4892040"/>
            <a:ext cx="4800600" cy="548640"/>
          </a:xfrm>
          <a:prstGeom prst="rect">
            <a:avLst/>
          </a:prstGeom>
          <a:noFill/>
          <a:ln/>
        </p:spPr>
        <p:txBody>
          <a:bodyPr wrap="square" rtlCol="0" anchor="ctr"/>
          <a:lstStyle/>
          <a:p>
            <a:pPr marL="0" indent="0">
              <a:lnSpc>
                <a:spcPct val="125000"/>
              </a:lnSpc>
              <a:buNone/>
            </a:pPr>
            <a:r>
              <a:rPr lang="en-US" sz="1150" dirty="0">
                <a:solidFill>
                  <a:srgbClr val="2C2C2A"/>
                </a:solidFill>
                <a:latin typeface="Calibri" pitchFamily="34" charset="0"/>
                <a:ea typeface="Calibri" pitchFamily="34" charset="-122"/>
                <a:cs typeface="Calibri" pitchFamily="34" charset="-120"/>
              </a:rPr>
              <a:t>Translate every chart into a specific, actionable recommendation — not just a number.</a:t>
            </a:r>
            <a:endParaRPr lang="en-US" sz="1150" dirty="0"/>
          </a:p>
        </p:txBody>
      </p:sp>
      <p:sp>
        <p:nvSpPr>
          <p:cNvPr id="23" name="Text 21"/>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Datasets</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Two connected CSV files sourced from Kaggle</a:t>
            </a:r>
            <a:endParaRPr lang="en-US" sz="1300" dirty="0"/>
          </a:p>
        </p:txBody>
      </p:sp>
      <p:sp>
        <p:nvSpPr>
          <p:cNvPr id="4" name="Shape 2"/>
          <p:cNvSpPr/>
          <p:nvPr/>
        </p:nvSpPr>
        <p:spPr>
          <a:xfrm>
            <a:off x="640080" y="1554480"/>
            <a:ext cx="5349240" cy="4297680"/>
          </a:xfrm>
          <a:prstGeom prst="roundRect">
            <a:avLst>
              <a:gd name="adj" fmla="val 1702"/>
            </a:avLst>
          </a:prstGeom>
          <a:solidFill>
            <a:srgbClr val="085041"/>
          </a:solidFill>
          <a:ln/>
        </p:spPr>
      </p:sp>
      <p:sp>
        <p:nvSpPr>
          <p:cNvPr id="5" name="Text 3"/>
          <p:cNvSpPr/>
          <p:nvPr/>
        </p:nvSpPr>
        <p:spPr>
          <a:xfrm>
            <a:off x="960120" y="1783080"/>
            <a:ext cx="4709160" cy="320040"/>
          </a:xfrm>
          <a:prstGeom prst="rect">
            <a:avLst/>
          </a:prstGeom>
          <a:noFill/>
          <a:ln/>
        </p:spPr>
        <p:txBody>
          <a:bodyPr wrap="square" rtlCol="0" anchor="ctr"/>
          <a:lstStyle/>
          <a:p>
            <a:pPr marL="0" indent="0">
              <a:buNone/>
            </a:pPr>
            <a:r>
              <a:rPr lang="en-US" sz="1200" b="1" kern="0" spc="100" dirty="0">
                <a:solidFill>
                  <a:srgbClr val="5DCAA5"/>
                </a:solidFill>
                <a:latin typeface="Calibri" pitchFamily="34" charset="0"/>
                <a:ea typeface="Calibri" pitchFamily="34" charset="-122"/>
                <a:cs typeface="Calibri" pitchFamily="34" charset="-120"/>
              </a:rPr>
              <a:t>TRANSACTION LOG</a:t>
            </a:r>
            <a:endParaRPr lang="en-US" sz="1200" dirty="0"/>
          </a:p>
        </p:txBody>
      </p:sp>
      <p:sp>
        <p:nvSpPr>
          <p:cNvPr id="6" name="Text 4"/>
          <p:cNvSpPr/>
          <p:nvPr/>
        </p:nvSpPr>
        <p:spPr>
          <a:xfrm>
            <a:off x="960120" y="2103120"/>
            <a:ext cx="470916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Inventory_Transactions.csv</a:t>
            </a:r>
            <a:endParaRPr lang="en-US" sz="2000" dirty="0"/>
          </a:p>
        </p:txBody>
      </p:sp>
      <p:sp>
        <p:nvSpPr>
          <p:cNvPr id="7" name="Shape 5"/>
          <p:cNvSpPr/>
          <p:nvPr/>
        </p:nvSpPr>
        <p:spPr>
          <a:xfrm>
            <a:off x="960120" y="2697480"/>
            <a:ext cx="2743200" cy="411480"/>
          </a:xfrm>
          <a:prstGeom prst="roundRect">
            <a:avLst>
              <a:gd name="adj" fmla="val 48889"/>
            </a:avLst>
          </a:prstGeom>
          <a:solidFill>
            <a:srgbClr val="5DCAA5"/>
          </a:solidFill>
          <a:ln/>
        </p:spPr>
      </p:sp>
      <p:sp>
        <p:nvSpPr>
          <p:cNvPr id="8" name="Text 6"/>
          <p:cNvSpPr/>
          <p:nvPr/>
        </p:nvSpPr>
        <p:spPr>
          <a:xfrm>
            <a:off x="960120" y="2697480"/>
            <a:ext cx="2743200" cy="411480"/>
          </a:xfrm>
          <a:prstGeom prst="rect">
            <a:avLst/>
          </a:prstGeom>
          <a:noFill/>
          <a:ln/>
        </p:spPr>
        <p:txBody>
          <a:bodyPr wrap="square" rtlCol="0" anchor="ctr"/>
          <a:lstStyle/>
          <a:p>
            <a:pPr marL="0" indent="0" algn="ctr">
              <a:buNone/>
            </a:pPr>
            <a:r>
              <a:rPr lang="en-US" sz="1150" b="1" dirty="0">
                <a:solidFill>
                  <a:srgbClr val="085041"/>
                </a:solidFill>
                <a:latin typeface="Calibri" pitchFamily="34" charset="0"/>
                <a:ea typeface="Calibri" pitchFamily="34" charset="-122"/>
                <a:cs typeface="Calibri" pitchFamily="34" charset="-120"/>
              </a:rPr>
              <a:t>1,415 rows  •  9 columns</a:t>
            </a:r>
            <a:endParaRPr lang="en-US" sz="1150" dirty="0"/>
          </a:p>
        </p:txBody>
      </p:sp>
      <p:sp>
        <p:nvSpPr>
          <p:cNvPr id="9" name="Text 7"/>
          <p:cNvSpPr/>
          <p:nvPr/>
        </p:nvSpPr>
        <p:spPr>
          <a:xfrm>
            <a:off x="960120" y="3337560"/>
            <a:ext cx="4709160" cy="1188720"/>
          </a:xfrm>
          <a:prstGeom prst="rect">
            <a:avLst/>
          </a:prstGeom>
          <a:noFill/>
          <a:ln/>
        </p:spPr>
        <p:txBody>
          <a:bodyPr wrap="square" rtlCol="0" anchor="ctr"/>
          <a:lstStyle/>
          <a:p>
            <a:pPr marL="0" indent="0">
              <a:lnSpc>
                <a:spcPct val="135000"/>
              </a:lnSpc>
              <a:buNone/>
            </a:pPr>
            <a:r>
              <a:rPr lang="en-US" sz="1250" dirty="0">
                <a:solidFill>
                  <a:srgbClr val="FFFFFF"/>
                </a:solidFill>
                <a:latin typeface="Calibri" pitchFamily="34" charset="0"/>
                <a:ea typeface="Calibri" pitchFamily="34" charset="-122"/>
                <a:cs typeface="Calibri" pitchFamily="34" charset="-120"/>
              </a:rPr>
              <a:t>One row per sale — order, date, product, quantity, location, staff, revenue, lead time, and risk level.</a:t>
            </a:r>
            <a:endParaRPr lang="en-US" sz="1250" dirty="0"/>
          </a:p>
        </p:txBody>
      </p:sp>
      <p:sp>
        <p:nvSpPr>
          <p:cNvPr id="10" name="Shape 8"/>
          <p:cNvSpPr/>
          <p:nvPr/>
        </p:nvSpPr>
        <p:spPr>
          <a:xfrm>
            <a:off x="6263640" y="1554480"/>
            <a:ext cx="5349240" cy="4297680"/>
          </a:xfrm>
          <a:prstGeom prst="roundRect">
            <a:avLst>
              <a:gd name="adj" fmla="val 1702"/>
            </a:avLst>
          </a:prstGeom>
          <a:solidFill>
            <a:srgbClr val="0F6E56"/>
          </a:solidFill>
          <a:ln/>
        </p:spPr>
      </p:sp>
      <p:sp>
        <p:nvSpPr>
          <p:cNvPr id="11" name="Text 9"/>
          <p:cNvSpPr/>
          <p:nvPr/>
        </p:nvSpPr>
        <p:spPr>
          <a:xfrm>
            <a:off x="6583680" y="1783080"/>
            <a:ext cx="4709160" cy="320040"/>
          </a:xfrm>
          <a:prstGeom prst="rect">
            <a:avLst/>
          </a:prstGeom>
          <a:noFill/>
          <a:ln/>
        </p:spPr>
        <p:txBody>
          <a:bodyPr wrap="square" rtlCol="0" anchor="ctr"/>
          <a:lstStyle/>
          <a:p>
            <a:pPr marL="0" indent="0">
              <a:buNone/>
            </a:pPr>
            <a:r>
              <a:rPr lang="en-US" sz="1200" b="1" kern="0" spc="100" dirty="0">
                <a:solidFill>
                  <a:srgbClr val="5DCAA5"/>
                </a:solidFill>
                <a:latin typeface="Calibri" pitchFamily="34" charset="0"/>
                <a:ea typeface="Calibri" pitchFamily="34" charset="-122"/>
                <a:cs typeface="Calibri" pitchFamily="34" charset="-120"/>
              </a:rPr>
              <a:t>PRODUCT CATALOG</a:t>
            </a:r>
            <a:endParaRPr lang="en-US" sz="1200" dirty="0"/>
          </a:p>
        </p:txBody>
      </p:sp>
      <p:sp>
        <p:nvSpPr>
          <p:cNvPr id="12" name="Text 10"/>
          <p:cNvSpPr/>
          <p:nvPr/>
        </p:nvSpPr>
        <p:spPr>
          <a:xfrm>
            <a:off x="6583680" y="2103120"/>
            <a:ext cx="4709160" cy="502920"/>
          </a:xfrm>
          <a:prstGeom prst="rect">
            <a:avLst/>
          </a:prstGeom>
          <a:noFill/>
          <a:ln/>
        </p:spPr>
        <p:txBody>
          <a:bodyPr wrap="square"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Product_Master_List.csv</a:t>
            </a:r>
            <a:endParaRPr lang="en-US" sz="2000" dirty="0"/>
          </a:p>
        </p:txBody>
      </p:sp>
      <p:sp>
        <p:nvSpPr>
          <p:cNvPr id="13" name="Shape 11"/>
          <p:cNvSpPr/>
          <p:nvPr/>
        </p:nvSpPr>
        <p:spPr>
          <a:xfrm>
            <a:off x="6583680" y="2697480"/>
            <a:ext cx="2743200" cy="411480"/>
          </a:xfrm>
          <a:prstGeom prst="roundRect">
            <a:avLst>
              <a:gd name="adj" fmla="val 48889"/>
            </a:avLst>
          </a:prstGeom>
          <a:solidFill>
            <a:srgbClr val="5DCAA5"/>
          </a:solidFill>
          <a:ln/>
        </p:spPr>
      </p:sp>
      <p:sp>
        <p:nvSpPr>
          <p:cNvPr id="14" name="Text 12"/>
          <p:cNvSpPr/>
          <p:nvPr/>
        </p:nvSpPr>
        <p:spPr>
          <a:xfrm>
            <a:off x="6583680" y="2697480"/>
            <a:ext cx="2743200" cy="411480"/>
          </a:xfrm>
          <a:prstGeom prst="rect">
            <a:avLst/>
          </a:prstGeom>
          <a:noFill/>
          <a:ln/>
        </p:spPr>
        <p:txBody>
          <a:bodyPr wrap="square" rtlCol="0" anchor="ctr"/>
          <a:lstStyle/>
          <a:p>
            <a:pPr marL="0" indent="0" algn="ctr">
              <a:buNone/>
            </a:pPr>
            <a:r>
              <a:rPr lang="en-US" sz="1150" b="1" dirty="0">
                <a:solidFill>
                  <a:srgbClr val="085041"/>
                </a:solidFill>
                <a:latin typeface="Calibri" pitchFamily="34" charset="0"/>
                <a:ea typeface="Calibri" pitchFamily="34" charset="-122"/>
                <a:cs typeface="Calibri" pitchFamily="34" charset="-120"/>
              </a:rPr>
              <a:t>7 rows  •  9 columns</a:t>
            </a:r>
            <a:endParaRPr lang="en-US" sz="1150" dirty="0"/>
          </a:p>
        </p:txBody>
      </p:sp>
      <p:sp>
        <p:nvSpPr>
          <p:cNvPr id="15" name="Text 13"/>
          <p:cNvSpPr/>
          <p:nvPr/>
        </p:nvSpPr>
        <p:spPr>
          <a:xfrm>
            <a:off x="6583680" y="3337560"/>
            <a:ext cx="4709160" cy="1188720"/>
          </a:xfrm>
          <a:prstGeom prst="rect">
            <a:avLst/>
          </a:prstGeom>
          <a:noFill/>
          <a:ln/>
        </p:spPr>
        <p:txBody>
          <a:bodyPr wrap="square" rtlCol="0" anchor="ctr"/>
          <a:lstStyle/>
          <a:p>
            <a:pPr marL="0" indent="0">
              <a:lnSpc>
                <a:spcPct val="135000"/>
              </a:lnSpc>
              <a:buNone/>
            </a:pPr>
            <a:r>
              <a:rPr lang="en-US" sz="1250" dirty="0">
                <a:solidFill>
                  <a:srgbClr val="FFFFFF"/>
                </a:solidFill>
                <a:latin typeface="Calibri" pitchFamily="34" charset="0"/>
                <a:ea typeface="Calibri" pitchFamily="34" charset="-122"/>
                <a:cs typeface="Calibri" pitchFamily="34" charset="-120"/>
              </a:rPr>
              <a:t>One row per product — description, category, supplier, cost, stock level, and reorder point.</a:t>
            </a:r>
            <a:endParaRPr lang="en-US" sz="1250" dirty="0"/>
          </a:p>
        </p:txBody>
      </p:sp>
      <p:sp>
        <p:nvSpPr>
          <p:cNvPr id="16" name="Text 14"/>
          <p:cNvSpPr/>
          <p:nvPr/>
        </p:nvSpPr>
        <p:spPr>
          <a:xfrm>
            <a:off x="640080" y="5989320"/>
            <a:ext cx="10881360" cy="365760"/>
          </a:xfrm>
          <a:prstGeom prst="rect">
            <a:avLst/>
          </a:prstGeom>
          <a:noFill/>
          <a:ln/>
        </p:spPr>
        <p:txBody>
          <a:bodyPr wrap="square" rtlCol="0" anchor="ctr"/>
          <a:lstStyle/>
          <a:p>
            <a:pPr marL="0" indent="0" algn="ctr">
              <a:buNone/>
            </a:pPr>
            <a:r>
              <a:rPr lang="en-US" sz="1150" i="1" dirty="0">
                <a:solidFill>
                  <a:srgbClr val="5F5E5A"/>
                </a:solidFill>
                <a:latin typeface="Calibri" pitchFamily="34" charset="0"/>
                <a:ea typeface="Calibri" pitchFamily="34" charset="-122"/>
                <a:cs typeface="Calibri" pitchFamily="34" charset="-120"/>
              </a:rPr>
              <a:t>Both files are joined by a shared SKU field — see "Connections Used" for details.</a:t>
            </a:r>
            <a:endParaRPr lang="en-US" sz="1150" dirty="0"/>
          </a:p>
        </p:txBody>
      </p:sp>
      <p:sp>
        <p:nvSpPr>
          <p:cNvPr id="17" name="Text 15"/>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18" name="Text 16"/>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Key Details</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Inventory_Transactions.csv</a:t>
            </a:r>
            <a:endParaRPr lang="en-US" sz="1300" dirty="0"/>
          </a:p>
        </p:txBody>
      </p:sp>
      <p:sp>
        <p:nvSpPr>
          <p:cNvPr id="4" name="Shape 2"/>
          <p:cNvSpPr/>
          <p:nvPr/>
        </p:nvSpPr>
        <p:spPr>
          <a:xfrm>
            <a:off x="640080" y="1417320"/>
            <a:ext cx="3108960" cy="457200"/>
          </a:xfrm>
          <a:prstGeom prst="roundRect">
            <a:avLst>
              <a:gd name="adj" fmla="val 50000"/>
            </a:avLst>
          </a:prstGeom>
          <a:solidFill>
            <a:srgbClr val="E1F5EE"/>
          </a:solidFill>
          <a:ln/>
        </p:spPr>
      </p:sp>
      <p:sp>
        <p:nvSpPr>
          <p:cNvPr id="5" name="Text 3"/>
          <p:cNvSpPr/>
          <p:nvPr/>
        </p:nvSpPr>
        <p:spPr>
          <a:xfrm>
            <a:off x="640080" y="1417320"/>
            <a:ext cx="3108960" cy="457200"/>
          </a:xfrm>
          <a:prstGeom prst="rect">
            <a:avLst/>
          </a:prstGeom>
          <a:noFill/>
          <a:ln/>
        </p:spPr>
        <p:txBody>
          <a:bodyPr wrap="square" rtlCol="0" anchor="ctr"/>
          <a:lstStyle/>
          <a:p>
            <a:pPr marL="0" indent="0" algn="ctr">
              <a:buNone/>
            </a:pPr>
            <a:r>
              <a:rPr lang="en-US" sz="1200" b="1" dirty="0">
                <a:solidFill>
                  <a:srgbClr val="085041"/>
                </a:solidFill>
                <a:latin typeface="Calibri" pitchFamily="34" charset="0"/>
                <a:ea typeface="Calibri" pitchFamily="34" charset="-122"/>
                <a:cs typeface="Calibri" pitchFamily="34" charset="-120"/>
              </a:rPr>
              <a:t>Columns – 9      Rows – 1,415</a:t>
            </a:r>
            <a:endParaRPr lang="en-US" sz="1200" dirty="0"/>
          </a:p>
        </p:txBody>
      </p:sp>
      <p:sp>
        <p:nvSpPr>
          <p:cNvPr id="6" name="Shape 4"/>
          <p:cNvSpPr/>
          <p:nvPr/>
        </p:nvSpPr>
        <p:spPr>
          <a:xfrm>
            <a:off x="640080" y="2057400"/>
            <a:ext cx="10881360" cy="457200"/>
          </a:xfrm>
          <a:prstGeom prst="rect">
            <a:avLst/>
          </a:prstGeom>
          <a:solidFill>
            <a:srgbClr val="E1F5EE"/>
          </a:solidFill>
          <a:ln/>
        </p:spPr>
      </p:sp>
      <p:sp>
        <p:nvSpPr>
          <p:cNvPr id="7" name="Text 5"/>
          <p:cNvSpPr/>
          <p:nvPr/>
        </p:nvSpPr>
        <p:spPr>
          <a:xfrm>
            <a:off x="822960" y="20574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Order_ID</a:t>
            </a:r>
            <a:endParaRPr lang="en-US" sz="1150" dirty="0"/>
          </a:p>
        </p:txBody>
      </p:sp>
      <p:sp>
        <p:nvSpPr>
          <p:cNvPr id="8" name="Text 6"/>
          <p:cNvSpPr/>
          <p:nvPr/>
        </p:nvSpPr>
        <p:spPr>
          <a:xfrm>
            <a:off x="3474720" y="20574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Unique identifier for each transaction</a:t>
            </a:r>
            <a:endParaRPr lang="en-US" sz="1150" dirty="0"/>
          </a:p>
        </p:txBody>
      </p:sp>
      <p:sp>
        <p:nvSpPr>
          <p:cNvPr id="9" name="Shape 7"/>
          <p:cNvSpPr/>
          <p:nvPr/>
        </p:nvSpPr>
        <p:spPr>
          <a:xfrm>
            <a:off x="640080" y="2514600"/>
            <a:ext cx="10881360" cy="457200"/>
          </a:xfrm>
          <a:prstGeom prst="rect">
            <a:avLst/>
          </a:prstGeom>
          <a:solidFill>
            <a:srgbClr val="FFFFFF"/>
          </a:solidFill>
          <a:ln/>
        </p:spPr>
      </p:sp>
      <p:sp>
        <p:nvSpPr>
          <p:cNvPr id="10" name="Text 8"/>
          <p:cNvSpPr/>
          <p:nvPr/>
        </p:nvSpPr>
        <p:spPr>
          <a:xfrm>
            <a:off x="822960" y="25146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Date</a:t>
            </a:r>
            <a:endParaRPr lang="en-US" sz="1150" dirty="0"/>
          </a:p>
        </p:txBody>
      </p:sp>
      <p:sp>
        <p:nvSpPr>
          <p:cNvPr id="11" name="Text 9"/>
          <p:cNvSpPr/>
          <p:nvPr/>
        </p:nvSpPr>
        <p:spPr>
          <a:xfrm>
            <a:off x="3474720" y="25146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Calendar date the transaction occurred</a:t>
            </a:r>
            <a:endParaRPr lang="en-US" sz="1150" dirty="0"/>
          </a:p>
        </p:txBody>
      </p:sp>
      <p:sp>
        <p:nvSpPr>
          <p:cNvPr id="12" name="Shape 10"/>
          <p:cNvSpPr/>
          <p:nvPr/>
        </p:nvSpPr>
        <p:spPr>
          <a:xfrm>
            <a:off x="640080" y="2971800"/>
            <a:ext cx="10881360" cy="457200"/>
          </a:xfrm>
          <a:prstGeom prst="rect">
            <a:avLst/>
          </a:prstGeom>
          <a:solidFill>
            <a:srgbClr val="E1F5EE"/>
          </a:solidFill>
          <a:ln/>
        </p:spPr>
      </p:sp>
      <p:sp>
        <p:nvSpPr>
          <p:cNvPr id="13" name="Text 11"/>
          <p:cNvSpPr/>
          <p:nvPr/>
        </p:nvSpPr>
        <p:spPr>
          <a:xfrm>
            <a:off x="822960" y="29718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SKU</a:t>
            </a:r>
            <a:endParaRPr lang="en-US" sz="1150" dirty="0"/>
          </a:p>
        </p:txBody>
      </p:sp>
      <p:sp>
        <p:nvSpPr>
          <p:cNvPr id="14" name="Text 12"/>
          <p:cNvSpPr/>
          <p:nvPr/>
        </p:nvSpPr>
        <p:spPr>
          <a:xfrm>
            <a:off x="3474720" y="29718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Product code sold — links to Product_Master_List</a:t>
            </a:r>
            <a:endParaRPr lang="en-US" sz="1150" dirty="0"/>
          </a:p>
        </p:txBody>
      </p:sp>
      <p:sp>
        <p:nvSpPr>
          <p:cNvPr id="15" name="Shape 13"/>
          <p:cNvSpPr/>
          <p:nvPr/>
        </p:nvSpPr>
        <p:spPr>
          <a:xfrm>
            <a:off x="640080" y="3429000"/>
            <a:ext cx="10881360" cy="457200"/>
          </a:xfrm>
          <a:prstGeom prst="rect">
            <a:avLst/>
          </a:prstGeom>
          <a:solidFill>
            <a:srgbClr val="FFFFFF"/>
          </a:solidFill>
          <a:ln/>
        </p:spPr>
      </p:sp>
      <p:sp>
        <p:nvSpPr>
          <p:cNvPr id="16" name="Text 14"/>
          <p:cNvSpPr/>
          <p:nvPr/>
        </p:nvSpPr>
        <p:spPr>
          <a:xfrm>
            <a:off x="822960" y="34290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Qty_Sold</a:t>
            </a:r>
            <a:endParaRPr lang="en-US" sz="1150" dirty="0"/>
          </a:p>
        </p:txBody>
      </p:sp>
      <p:sp>
        <p:nvSpPr>
          <p:cNvPr id="17" name="Text 15"/>
          <p:cNvSpPr/>
          <p:nvPr/>
        </p:nvSpPr>
        <p:spPr>
          <a:xfrm>
            <a:off x="3474720" y="34290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Number of units sold in the transaction</a:t>
            </a:r>
            <a:endParaRPr lang="en-US" sz="1150" dirty="0"/>
          </a:p>
        </p:txBody>
      </p:sp>
      <p:sp>
        <p:nvSpPr>
          <p:cNvPr id="18" name="Shape 16"/>
          <p:cNvSpPr/>
          <p:nvPr/>
        </p:nvSpPr>
        <p:spPr>
          <a:xfrm>
            <a:off x="640080" y="3886200"/>
            <a:ext cx="10881360" cy="457200"/>
          </a:xfrm>
          <a:prstGeom prst="rect">
            <a:avLst/>
          </a:prstGeom>
          <a:solidFill>
            <a:srgbClr val="E1F5EE"/>
          </a:solidFill>
          <a:ln/>
        </p:spPr>
      </p:sp>
      <p:sp>
        <p:nvSpPr>
          <p:cNvPr id="19" name="Text 17"/>
          <p:cNvSpPr/>
          <p:nvPr/>
        </p:nvSpPr>
        <p:spPr>
          <a:xfrm>
            <a:off x="822960" y="38862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Location</a:t>
            </a:r>
            <a:endParaRPr lang="en-US" sz="1150" dirty="0"/>
          </a:p>
        </p:txBody>
      </p:sp>
      <p:sp>
        <p:nvSpPr>
          <p:cNvPr id="20" name="Text 18"/>
          <p:cNvSpPr/>
          <p:nvPr/>
        </p:nvSpPr>
        <p:spPr>
          <a:xfrm>
            <a:off x="3474720" y="38862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Region where the sale occurred (North/South/East/West)</a:t>
            </a:r>
            <a:endParaRPr lang="en-US" sz="1150" dirty="0"/>
          </a:p>
        </p:txBody>
      </p:sp>
      <p:sp>
        <p:nvSpPr>
          <p:cNvPr id="21" name="Shape 19"/>
          <p:cNvSpPr/>
          <p:nvPr/>
        </p:nvSpPr>
        <p:spPr>
          <a:xfrm>
            <a:off x="640080" y="4343400"/>
            <a:ext cx="10881360" cy="457200"/>
          </a:xfrm>
          <a:prstGeom prst="rect">
            <a:avLst/>
          </a:prstGeom>
          <a:solidFill>
            <a:srgbClr val="FFFFFF"/>
          </a:solidFill>
          <a:ln/>
        </p:spPr>
      </p:sp>
      <p:sp>
        <p:nvSpPr>
          <p:cNvPr id="22" name="Text 20"/>
          <p:cNvSpPr/>
          <p:nvPr/>
        </p:nvSpPr>
        <p:spPr>
          <a:xfrm>
            <a:off x="822960" y="43434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Staff_ID</a:t>
            </a:r>
            <a:endParaRPr lang="en-US" sz="1150" dirty="0"/>
          </a:p>
        </p:txBody>
      </p:sp>
      <p:sp>
        <p:nvSpPr>
          <p:cNvPr id="23" name="Text 21"/>
          <p:cNvSpPr/>
          <p:nvPr/>
        </p:nvSpPr>
        <p:spPr>
          <a:xfrm>
            <a:off x="3474720" y="43434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Optician who handled the sale</a:t>
            </a:r>
            <a:endParaRPr lang="en-US" sz="1150" dirty="0"/>
          </a:p>
        </p:txBody>
      </p:sp>
      <p:sp>
        <p:nvSpPr>
          <p:cNvPr id="24" name="Shape 22"/>
          <p:cNvSpPr/>
          <p:nvPr/>
        </p:nvSpPr>
        <p:spPr>
          <a:xfrm>
            <a:off x="640080" y="4800600"/>
            <a:ext cx="10881360" cy="457200"/>
          </a:xfrm>
          <a:prstGeom prst="rect">
            <a:avLst/>
          </a:prstGeom>
          <a:solidFill>
            <a:srgbClr val="E1F5EE"/>
          </a:solidFill>
          <a:ln/>
        </p:spPr>
      </p:sp>
      <p:sp>
        <p:nvSpPr>
          <p:cNvPr id="25" name="Text 23"/>
          <p:cNvSpPr/>
          <p:nvPr/>
        </p:nvSpPr>
        <p:spPr>
          <a:xfrm>
            <a:off x="822960" y="48006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Revenue</a:t>
            </a:r>
            <a:endParaRPr lang="en-US" sz="1150" dirty="0"/>
          </a:p>
        </p:txBody>
      </p:sp>
      <p:sp>
        <p:nvSpPr>
          <p:cNvPr id="26" name="Text 24"/>
          <p:cNvSpPr/>
          <p:nvPr/>
        </p:nvSpPr>
        <p:spPr>
          <a:xfrm>
            <a:off x="3474720" y="48006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Total gross sales amount for the order</a:t>
            </a:r>
            <a:endParaRPr lang="en-US" sz="1150" dirty="0"/>
          </a:p>
        </p:txBody>
      </p:sp>
      <p:sp>
        <p:nvSpPr>
          <p:cNvPr id="27" name="Shape 25"/>
          <p:cNvSpPr/>
          <p:nvPr/>
        </p:nvSpPr>
        <p:spPr>
          <a:xfrm>
            <a:off x="640080" y="5257800"/>
            <a:ext cx="10881360" cy="457200"/>
          </a:xfrm>
          <a:prstGeom prst="rect">
            <a:avLst/>
          </a:prstGeom>
          <a:solidFill>
            <a:srgbClr val="FFFFFF"/>
          </a:solidFill>
          <a:ln/>
        </p:spPr>
      </p:sp>
      <p:sp>
        <p:nvSpPr>
          <p:cNvPr id="28" name="Text 26"/>
          <p:cNvSpPr/>
          <p:nvPr/>
        </p:nvSpPr>
        <p:spPr>
          <a:xfrm>
            <a:off x="822960" y="52578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Lead_Time</a:t>
            </a:r>
            <a:endParaRPr lang="en-US" sz="1150" dirty="0"/>
          </a:p>
        </p:txBody>
      </p:sp>
      <p:sp>
        <p:nvSpPr>
          <p:cNvPr id="29" name="Text 27"/>
          <p:cNvSpPr/>
          <p:nvPr/>
        </p:nvSpPr>
        <p:spPr>
          <a:xfrm>
            <a:off x="3474720" y="52578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Days taken to restock/deliver for this order</a:t>
            </a:r>
            <a:endParaRPr lang="en-US" sz="1150" dirty="0"/>
          </a:p>
        </p:txBody>
      </p:sp>
      <p:sp>
        <p:nvSpPr>
          <p:cNvPr id="30" name="Shape 28"/>
          <p:cNvSpPr/>
          <p:nvPr/>
        </p:nvSpPr>
        <p:spPr>
          <a:xfrm>
            <a:off x="640080" y="5715000"/>
            <a:ext cx="10881360" cy="457200"/>
          </a:xfrm>
          <a:prstGeom prst="rect">
            <a:avLst/>
          </a:prstGeom>
          <a:solidFill>
            <a:srgbClr val="E1F5EE"/>
          </a:solidFill>
          <a:ln/>
        </p:spPr>
      </p:sp>
      <p:sp>
        <p:nvSpPr>
          <p:cNvPr id="31" name="Text 29"/>
          <p:cNvSpPr/>
          <p:nvPr/>
        </p:nvSpPr>
        <p:spPr>
          <a:xfrm>
            <a:off x="822960" y="57150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Risk_Level</a:t>
            </a:r>
            <a:endParaRPr lang="en-US" sz="1150" dirty="0"/>
          </a:p>
        </p:txBody>
      </p:sp>
      <p:sp>
        <p:nvSpPr>
          <p:cNvPr id="32" name="Text 30"/>
          <p:cNvSpPr/>
          <p:nvPr/>
        </p:nvSpPr>
        <p:spPr>
          <a:xfrm>
            <a:off x="3474720" y="57150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Assigned risk classification: Low / Medium / High</a:t>
            </a:r>
            <a:endParaRPr lang="en-US" sz="1150" dirty="0"/>
          </a:p>
        </p:txBody>
      </p:sp>
      <p:sp>
        <p:nvSpPr>
          <p:cNvPr id="33" name="Text 31"/>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Key Details</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Product_Master_List.csv</a:t>
            </a:r>
            <a:endParaRPr lang="en-US" sz="1300" dirty="0"/>
          </a:p>
        </p:txBody>
      </p:sp>
      <p:sp>
        <p:nvSpPr>
          <p:cNvPr id="4" name="Shape 2"/>
          <p:cNvSpPr/>
          <p:nvPr/>
        </p:nvSpPr>
        <p:spPr>
          <a:xfrm>
            <a:off x="640080" y="1417320"/>
            <a:ext cx="2743200" cy="457200"/>
          </a:xfrm>
          <a:prstGeom prst="roundRect">
            <a:avLst>
              <a:gd name="adj" fmla="val 50000"/>
            </a:avLst>
          </a:prstGeom>
          <a:solidFill>
            <a:srgbClr val="E1F5EE"/>
          </a:solidFill>
          <a:ln/>
        </p:spPr>
      </p:sp>
      <p:sp>
        <p:nvSpPr>
          <p:cNvPr id="5" name="Text 3"/>
          <p:cNvSpPr/>
          <p:nvPr/>
        </p:nvSpPr>
        <p:spPr>
          <a:xfrm>
            <a:off x="640080" y="1417320"/>
            <a:ext cx="2743200" cy="457200"/>
          </a:xfrm>
          <a:prstGeom prst="rect">
            <a:avLst/>
          </a:prstGeom>
          <a:noFill/>
          <a:ln/>
        </p:spPr>
        <p:txBody>
          <a:bodyPr wrap="square" rtlCol="0" anchor="ctr"/>
          <a:lstStyle/>
          <a:p>
            <a:pPr marL="0" indent="0" algn="ctr">
              <a:buNone/>
            </a:pPr>
            <a:r>
              <a:rPr lang="en-US" sz="1200" b="1" dirty="0">
                <a:solidFill>
                  <a:srgbClr val="085041"/>
                </a:solidFill>
                <a:latin typeface="Calibri" pitchFamily="34" charset="0"/>
                <a:ea typeface="Calibri" pitchFamily="34" charset="-122"/>
                <a:cs typeface="Calibri" pitchFamily="34" charset="-120"/>
              </a:rPr>
              <a:t>Columns – 9      Rows – 7</a:t>
            </a:r>
            <a:endParaRPr lang="en-US" sz="1200" dirty="0"/>
          </a:p>
        </p:txBody>
      </p:sp>
      <p:sp>
        <p:nvSpPr>
          <p:cNvPr id="6" name="Shape 4"/>
          <p:cNvSpPr/>
          <p:nvPr/>
        </p:nvSpPr>
        <p:spPr>
          <a:xfrm>
            <a:off x="640080" y="2057400"/>
            <a:ext cx="10881360" cy="457200"/>
          </a:xfrm>
          <a:prstGeom prst="rect">
            <a:avLst/>
          </a:prstGeom>
          <a:solidFill>
            <a:srgbClr val="E1F5EE"/>
          </a:solidFill>
          <a:ln/>
        </p:spPr>
      </p:sp>
      <p:sp>
        <p:nvSpPr>
          <p:cNvPr id="7" name="Text 5"/>
          <p:cNvSpPr/>
          <p:nvPr/>
        </p:nvSpPr>
        <p:spPr>
          <a:xfrm>
            <a:off x="822960" y="20574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SKU</a:t>
            </a:r>
            <a:endParaRPr lang="en-US" sz="1150" dirty="0"/>
          </a:p>
        </p:txBody>
      </p:sp>
      <p:sp>
        <p:nvSpPr>
          <p:cNvPr id="8" name="Text 6"/>
          <p:cNvSpPr/>
          <p:nvPr/>
        </p:nvSpPr>
        <p:spPr>
          <a:xfrm>
            <a:off x="3474720" y="20574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Unique product code — links to Inventory_Transactions</a:t>
            </a:r>
            <a:endParaRPr lang="en-US" sz="1150" dirty="0"/>
          </a:p>
        </p:txBody>
      </p:sp>
      <p:sp>
        <p:nvSpPr>
          <p:cNvPr id="9" name="Shape 7"/>
          <p:cNvSpPr/>
          <p:nvPr/>
        </p:nvSpPr>
        <p:spPr>
          <a:xfrm>
            <a:off x="640080" y="2514600"/>
            <a:ext cx="10881360" cy="457200"/>
          </a:xfrm>
          <a:prstGeom prst="rect">
            <a:avLst/>
          </a:prstGeom>
          <a:solidFill>
            <a:srgbClr val="FFFFFF"/>
          </a:solidFill>
          <a:ln/>
        </p:spPr>
      </p:sp>
      <p:sp>
        <p:nvSpPr>
          <p:cNvPr id="10" name="Text 8"/>
          <p:cNvSpPr/>
          <p:nvPr/>
        </p:nvSpPr>
        <p:spPr>
          <a:xfrm>
            <a:off x="822960" y="25146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Description</a:t>
            </a:r>
            <a:endParaRPr lang="en-US" sz="1150" dirty="0"/>
          </a:p>
        </p:txBody>
      </p:sp>
      <p:sp>
        <p:nvSpPr>
          <p:cNvPr id="11" name="Text 9"/>
          <p:cNvSpPr/>
          <p:nvPr/>
        </p:nvSpPr>
        <p:spPr>
          <a:xfrm>
            <a:off x="3474720" y="25146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Plain-English product name</a:t>
            </a:r>
            <a:endParaRPr lang="en-US" sz="1150" dirty="0"/>
          </a:p>
        </p:txBody>
      </p:sp>
      <p:sp>
        <p:nvSpPr>
          <p:cNvPr id="12" name="Shape 10"/>
          <p:cNvSpPr/>
          <p:nvPr/>
        </p:nvSpPr>
        <p:spPr>
          <a:xfrm>
            <a:off x="640080" y="2971800"/>
            <a:ext cx="10881360" cy="457200"/>
          </a:xfrm>
          <a:prstGeom prst="rect">
            <a:avLst/>
          </a:prstGeom>
          <a:solidFill>
            <a:srgbClr val="E1F5EE"/>
          </a:solidFill>
          <a:ln/>
        </p:spPr>
      </p:sp>
      <p:sp>
        <p:nvSpPr>
          <p:cNvPr id="13" name="Text 11"/>
          <p:cNvSpPr/>
          <p:nvPr/>
        </p:nvSpPr>
        <p:spPr>
          <a:xfrm>
            <a:off x="822960" y="29718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Category</a:t>
            </a:r>
            <a:endParaRPr lang="en-US" sz="1150" dirty="0"/>
          </a:p>
        </p:txBody>
      </p:sp>
      <p:sp>
        <p:nvSpPr>
          <p:cNvPr id="14" name="Text 12"/>
          <p:cNvSpPr/>
          <p:nvPr/>
        </p:nvSpPr>
        <p:spPr>
          <a:xfrm>
            <a:off x="3474720" y="29718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Product type: Contact Lenses, Frames, Solutions, Surgical</a:t>
            </a:r>
            <a:endParaRPr lang="en-US" sz="1150" dirty="0"/>
          </a:p>
        </p:txBody>
      </p:sp>
      <p:sp>
        <p:nvSpPr>
          <p:cNvPr id="15" name="Shape 13"/>
          <p:cNvSpPr/>
          <p:nvPr/>
        </p:nvSpPr>
        <p:spPr>
          <a:xfrm>
            <a:off x="640080" y="3429000"/>
            <a:ext cx="10881360" cy="457200"/>
          </a:xfrm>
          <a:prstGeom prst="rect">
            <a:avLst/>
          </a:prstGeom>
          <a:solidFill>
            <a:srgbClr val="FFFFFF"/>
          </a:solidFill>
          <a:ln/>
        </p:spPr>
      </p:sp>
      <p:sp>
        <p:nvSpPr>
          <p:cNvPr id="16" name="Text 14"/>
          <p:cNvSpPr/>
          <p:nvPr/>
        </p:nvSpPr>
        <p:spPr>
          <a:xfrm>
            <a:off x="822960" y="34290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Supplier</a:t>
            </a:r>
            <a:endParaRPr lang="en-US" sz="1150" dirty="0"/>
          </a:p>
        </p:txBody>
      </p:sp>
      <p:sp>
        <p:nvSpPr>
          <p:cNvPr id="17" name="Text 15"/>
          <p:cNvSpPr/>
          <p:nvPr/>
        </p:nvSpPr>
        <p:spPr>
          <a:xfrm>
            <a:off x="3474720" y="34290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Company that supplies the product</a:t>
            </a:r>
            <a:endParaRPr lang="en-US" sz="1150" dirty="0"/>
          </a:p>
        </p:txBody>
      </p:sp>
      <p:sp>
        <p:nvSpPr>
          <p:cNvPr id="18" name="Shape 16"/>
          <p:cNvSpPr/>
          <p:nvPr/>
        </p:nvSpPr>
        <p:spPr>
          <a:xfrm>
            <a:off x="640080" y="3886200"/>
            <a:ext cx="10881360" cy="457200"/>
          </a:xfrm>
          <a:prstGeom prst="rect">
            <a:avLst/>
          </a:prstGeom>
          <a:solidFill>
            <a:srgbClr val="E1F5EE"/>
          </a:solidFill>
          <a:ln/>
        </p:spPr>
      </p:sp>
      <p:sp>
        <p:nvSpPr>
          <p:cNvPr id="19" name="Text 17"/>
          <p:cNvSpPr/>
          <p:nvPr/>
        </p:nvSpPr>
        <p:spPr>
          <a:xfrm>
            <a:off x="822960" y="38862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Unit_Cost</a:t>
            </a:r>
            <a:endParaRPr lang="en-US" sz="1150" dirty="0"/>
          </a:p>
        </p:txBody>
      </p:sp>
      <p:sp>
        <p:nvSpPr>
          <p:cNvPr id="20" name="Text 18"/>
          <p:cNvSpPr/>
          <p:nvPr/>
        </p:nvSpPr>
        <p:spPr>
          <a:xfrm>
            <a:off x="3474720" y="38862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Wholesale cost per unit to the business</a:t>
            </a:r>
            <a:endParaRPr lang="en-US" sz="1150" dirty="0"/>
          </a:p>
        </p:txBody>
      </p:sp>
      <p:sp>
        <p:nvSpPr>
          <p:cNvPr id="21" name="Shape 19"/>
          <p:cNvSpPr/>
          <p:nvPr/>
        </p:nvSpPr>
        <p:spPr>
          <a:xfrm>
            <a:off x="640080" y="4343400"/>
            <a:ext cx="10881360" cy="457200"/>
          </a:xfrm>
          <a:prstGeom prst="rect">
            <a:avLst/>
          </a:prstGeom>
          <a:solidFill>
            <a:srgbClr val="FFFFFF"/>
          </a:solidFill>
          <a:ln/>
        </p:spPr>
      </p:sp>
      <p:sp>
        <p:nvSpPr>
          <p:cNvPr id="22" name="Text 20"/>
          <p:cNvSpPr/>
          <p:nvPr/>
        </p:nvSpPr>
        <p:spPr>
          <a:xfrm>
            <a:off x="822960" y="43434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Lead_Time_Days</a:t>
            </a:r>
            <a:endParaRPr lang="en-US" sz="1150" dirty="0"/>
          </a:p>
        </p:txBody>
      </p:sp>
      <p:sp>
        <p:nvSpPr>
          <p:cNvPr id="23" name="Text 21"/>
          <p:cNvSpPr/>
          <p:nvPr/>
        </p:nvSpPr>
        <p:spPr>
          <a:xfrm>
            <a:off x="3474720" y="43434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Standard days to restock this product</a:t>
            </a:r>
            <a:endParaRPr lang="en-US" sz="1150" dirty="0"/>
          </a:p>
        </p:txBody>
      </p:sp>
      <p:sp>
        <p:nvSpPr>
          <p:cNvPr id="24" name="Shape 22"/>
          <p:cNvSpPr/>
          <p:nvPr/>
        </p:nvSpPr>
        <p:spPr>
          <a:xfrm>
            <a:off x="640080" y="4800600"/>
            <a:ext cx="10881360" cy="457200"/>
          </a:xfrm>
          <a:prstGeom prst="rect">
            <a:avLst/>
          </a:prstGeom>
          <a:solidFill>
            <a:srgbClr val="E1F5EE"/>
          </a:solidFill>
          <a:ln/>
        </p:spPr>
      </p:sp>
      <p:sp>
        <p:nvSpPr>
          <p:cNvPr id="25" name="Text 23"/>
          <p:cNvSpPr/>
          <p:nvPr/>
        </p:nvSpPr>
        <p:spPr>
          <a:xfrm>
            <a:off x="822960" y="48006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Stock_Level</a:t>
            </a:r>
            <a:endParaRPr lang="en-US" sz="1150" dirty="0"/>
          </a:p>
        </p:txBody>
      </p:sp>
      <p:sp>
        <p:nvSpPr>
          <p:cNvPr id="26" name="Text 24"/>
          <p:cNvSpPr/>
          <p:nvPr/>
        </p:nvSpPr>
        <p:spPr>
          <a:xfrm>
            <a:off x="3474720" y="48006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Current quantity in the warehouse</a:t>
            </a:r>
            <a:endParaRPr lang="en-US" sz="1150" dirty="0"/>
          </a:p>
        </p:txBody>
      </p:sp>
      <p:sp>
        <p:nvSpPr>
          <p:cNvPr id="27" name="Shape 25"/>
          <p:cNvSpPr/>
          <p:nvPr/>
        </p:nvSpPr>
        <p:spPr>
          <a:xfrm>
            <a:off x="640080" y="5257800"/>
            <a:ext cx="10881360" cy="457200"/>
          </a:xfrm>
          <a:prstGeom prst="rect">
            <a:avLst/>
          </a:prstGeom>
          <a:solidFill>
            <a:srgbClr val="FFFFFF"/>
          </a:solidFill>
          <a:ln/>
        </p:spPr>
      </p:sp>
      <p:sp>
        <p:nvSpPr>
          <p:cNvPr id="28" name="Text 26"/>
          <p:cNvSpPr/>
          <p:nvPr/>
        </p:nvSpPr>
        <p:spPr>
          <a:xfrm>
            <a:off x="822960" y="52578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Reorder_Point</a:t>
            </a:r>
            <a:endParaRPr lang="en-US" sz="1150" dirty="0"/>
          </a:p>
        </p:txBody>
      </p:sp>
      <p:sp>
        <p:nvSpPr>
          <p:cNvPr id="29" name="Text 27"/>
          <p:cNvSpPr/>
          <p:nvPr/>
        </p:nvSpPr>
        <p:spPr>
          <a:xfrm>
            <a:off x="3474720" y="52578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Threshold below which restocking is needed</a:t>
            </a:r>
            <a:endParaRPr lang="en-US" sz="1150" dirty="0"/>
          </a:p>
        </p:txBody>
      </p:sp>
      <p:sp>
        <p:nvSpPr>
          <p:cNvPr id="30" name="Shape 28"/>
          <p:cNvSpPr/>
          <p:nvPr/>
        </p:nvSpPr>
        <p:spPr>
          <a:xfrm>
            <a:off x="640080" y="5715000"/>
            <a:ext cx="10881360" cy="457200"/>
          </a:xfrm>
          <a:prstGeom prst="rect">
            <a:avLst/>
          </a:prstGeom>
          <a:solidFill>
            <a:srgbClr val="E1F5EE"/>
          </a:solidFill>
          <a:ln/>
        </p:spPr>
      </p:sp>
      <p:sp>
        <p:nvSpPr>
          <p:cNvPr id="31" name="Text 29"/>
          <p:cNvSpPr/>
          <p:nvPr/>
        </p:nvSpPr>
        <p:spPr>
          <a:xfrm>
            <a:off x="822960" y="5715000"/>
            <a:ext cx="2560320" cy="457200"/>
          </a:xfrm>
          <a:prstGeom prst="rect">
            <a:avLst/>
          </a:prstGeom>
          <a:noFill/>
          <a:ln/>
        </p:spPr>
        <p:txBody>
          <a:bodyPr wrap="square" rtlCol="0" anchor="ctr"/>
          <a:lstStyle/>
          <a:p>
            <a:pPr marL="0" indent="0">
              <a:buNone/>
            </a:pPr>
            <a:r>
              <a:rPr lang="en-US" sz="1150" b="1" dirty="0">
                <a:solidFill>
                  <a:srgbClr val="085041"/>
                </a:solidFill>
                <a:latin typeface="Calibri" pitchFamily="34" charset="0"/>
                <a:ea typeface="Calibri" pitchFamily="34" charset="-122"/>
                <a:cs typeface="Calibri" pitchFamily="34" charset="-120"/>
              </a:rPr>
              <a:t>Total_Value</a:t>
            </a:r>
            <a:endParaRPr lang="en-US" sz="1150" dirty="0"/>
          </a:p>
        </p:txBody>
      </p:sp>
      <p:sp>
        <p:nvSpPr>
          <p:cNvPr id="32" name="Text 30"/>
          <p:cNvSpPr/>
          <p:nvPr/>
        </p:nvSpPr>
        <p:spPr>
          <a:xfrm>
            <a:off x="3474720" y="5715000"/>
            <a:ext cx="7863840" cy="457200"/>
          </a:xfrm>
          <a:prstGeom prst="rect">
            <a:avLst/>
          </a:prstGeom>
          <a:noFill/>
          <a:ln/>
        </p:spPr>
        <p:txBody>
          <a:bodyPr wrap="square" rtlCol="0" anchor="ctr"/>
          <a:lstStyle/>
          <a:p>
            <a:pPr marL="0" indent="0">
              <a:buNone/>
            </a:pPr>
            <a:r>
              <a:rPr lang="en-US" sz="1150" dirty="0">
                <a:solidFill>
                  <a:srgbClr val="2C2C2A"/>
                </a:solidFill>
                <a:latin typeface="Calibri" pitchFamily="34" charset="0"/>
                <a:ea typeface="Calibri" pitchFamily="34" charset="-122"/>
                <a:cs typeface="Calibri" pitchFamily="34" charset="-120"/>
              </a:rPr>
              <a:t>Current stock value (Stock_Level × Unit_Cost)</a:t>
            </a:r>
            <a:endParaRPr lang="en-US" sz="1150" dirty="0"/>
          </a:p>
        </p:txBody>
      </p:sp>
      <p:sp>
        <p:nvSpPr>
          <p:cNvPr id="33" name="Text 31"/>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34" name="Text 3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Connections Used</a:t>
            </a:r>
            <a:endParaRPr lang="en-US" sz="3200" dirty="0"/>
          </a:p>
        </p:txBody>
      </p:sp>
      <p:sp>
        <p:nvSpPr>
          <p:cNvPr id="3" name="Shape 1"/>
          <p:cNvSpPr/>
          <p:nvPr/>
        </p:nvSpPr>
        <p:spPr>
          <a:xfrm>
            <a:off x="640080" y="1463040"/>
            <a:ext cx="4663440" cy="2926080"/>
          </a:xfrm>
          <a:prstGeom prst="roundRect">
            <a:avLst>
              <a:gd name="adj" fmla="val 2500"/>
            </a:avLst>
          </a:prstGeom>
          <a:solidFill>
            <a:srgbClr val="085041"/>
          </a:solidFill>
          <a:ln/>
        </p:spPr>
      </p:sp>
      <p:sp>
        <p:nvSpPr>
          <p:cNvPr id="4" name="Text 2"/>
          <p:cNvSpPr/>
          <p:nvPr/>
        </p:nvSpPr>
        <p:spPr>
          <a:xfrm>
            <a:off x="914400" y="1691640"/>
            <a:ext cx="41148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Inventory_Transactions</a:t>
            </a:r>
            <a:endParaRPr lang="en-US" sz="1400" dirty="0"/>
          </a:p>
        </p:txBody>
      </p:sp>
      <p:sp>
        <p:nvSpPr>
          <p:cNvPr id="5" name="Text 3"/>
          <p:cNvSpPr/>
          <p:nvPr/>
        </p:nvSpPr>
        <p:spPr>
          <a:xfrm>
            <a:off x="914400" y="2103120"/>
            <a:ext cx="4114800" cy="548640"/>
          </a:xfrm>
          <a:prstGeom prst="rect">
            <a:avLst/>
          </a:prstGeom>
          <a:noFill/>
          <a:ln/>
        </p:spPr>
        <p:txBody>
          <a:bodyPr wrap="square" rtlCol="0" anchor="ctr"/>
          <a:lstStyle/>
          <a:p>
            <a:pPr marL="0" indent="0">
              <a:lnSpc>
                <a:spcPct val="120000"/>
              </a:lnSpc>
              <a:buNone/>
            </a:pPr>
            <a:r>
              <a:rPr lang="en-US" sz="1100" dirty="0">
                <a:solidFill>
                  <a:srgbClr val="E1F5EE"/>
                </a:solidFill>
                <a:latin typeface="Calibri" pitchFamily="34" charset="0"/>
                <a:ea typeface="Calibri" pitchFamily="34" charset="-122"/>
                <a:cs typeface="Calibri" pitchFamily="34" charset="-120"/>
              </a:rPr>
              <a:t>"many" side</a:t>
            </a:r>
            <a:endParaRPr lang="en-US" sz="1100" dirty="0"/>
          </a:p>
          <a:p>
            <a:pPr marL="0" indent="0">
              <a:lnSpc>
                <a:spcPct val="120000"/>
              </a:lnSpc>
              <a:buNone/>
            </a:pPr>
            <a:r>
              <a:rPr lang="en-US" sz="1100" dirty="0">
                <a:solidFill>
                  <a:srgbClr val="E1F5EE"/>
                </a:solidFill>
                <a:latin typeface="Calibri" pitchFamily="34" charset="0"/>
                <a:ea typeface="Calibri" pitchFamily="34" charset="-122"/>
                <a:cs typeface="Calibri" pitchFamily="34" charset="-120"/>
              </a:rPr>
              <a:t>1,415 rows</a:t>
            </a:r>
            <a:endParaRPr lang="en-US" sz="1100" dirty="0"/>
          </a:p>
        </p:txBody>
      </p:sp>
      <p:sp>
        <p:nvSpPr>
          <p:cNvPr id="6" name="Shape 4"/>
          <p:cNvSpPr/>
          <p:nvPr/>
        </p:nvSpPr>
        <p:spPr>
          <a:xfrm>
            <a:off x="914400" y="2834640"/>
            <a:ext cx="4114800" cy="1280160"/>
          </a:xfrm>
          <a:prstGeom prst="roundRect">
            <a:avLst>
              <a:gd name="adj" fmla="val 4286"/>
            </a:avLst>
          </a:prstGeom>
          <a:solidFill>
            <a:srgbClr val="0F6E56"/>
          </a:solidFill>
          <a:ln/>
        </p:spPr>
      </p:sp>
      <p:sp>
        <p:nvSpPr>
          <p:cNvPr id="7" name="Text 5"/>
          <p:cNvSpPr/>
          <p:nvPr/>
        </p:nvSpPr>
        <p:spPr>
          <a:xfrm>
            <a:off x="1097280" y="3017520"/>
            <a:ext cx="3749040" cy="914400"/>
          </a:xfrm>
          <a:prstGeom prst="rect">
            <a:avLst/>
          </a:prstGeom>
          <a:noFill/>
          <a:ln/>
        </p:spPr>
        <p:txBody>
          <a:bodyPr wrap="square" rtlCol="0" anchor="ctr"/>
          <a:lstStyle/>
          <a:p>
            <a:pPr marL="0" indent="0">
              <a:lnSpc>
                <a:spcPct val="130000"/>
              </a:lnSpc>
              <a:buNone/>
            </a:pPr>
            <a:r>
              <a:rPr lang="en-US" sz="1150" dirty="0">
                <a:solidFill>
                  <a:srgbClr val="FFFFFF"/>
                </a:solidFill>
                <a:latin typeface="Calibri" pitchFamily="34" charset="0"/>
                <a:ea typeface="Calibri" pitchFamily="34" charset="-122"/>
                <a:cs typeface="Calibri" pitchFamily="34" charset="-120"/>
              </a:rPr>
              <a:t>Each row references one</a:t>
            </a:r>
            <a:endParaRPr lang="en-US" sz="1150" dirty="0"/>
          </a:p>
          <a:p>
            <a:pPr marL="0" indent="0">
              <a:lnSpc>
                <a:spcPct val="130000"/>
              </a:lnSpc>
              <a:buNone/>
            </a:pPr>
            <a:r>
              <a:rPr lang="en-US" sz="1150" dirty="0">
                <a:solidFill>
                  <a:srgbClr val="FFFFFF"/>
                </a:solidFill>
                <a:latin typeface="Calibri" pitchFamily="34" charset="0"/>
                <a:ea typeface="Calibri" pitchFamily="34" charset="-122"/>
                <a:cs typeface="Calibri" pitchFamily="34" charset="-120"/>
              </a:rPr>
              <a:t>product via its SKU</a:t>
            </a:r>
            <a:endParaRPr lang="en-US" sz="1150" dirty="0"/>
          </a:p>
        </p:txBody>
      </p:sp>
      <p:sp>
        <p:nvSpPr>
          <p:cNvPr id="8" name="Shape 6"/>
          <p:cNvSpPr/>
          <p:nvPr/>
        </p:nvSpPr>
        <p:spPr>
          <a:xfrm>
            <a:off x="6858000" y="1463040"/>
            <a:ext cx="4663440" cy="2926080"/>
          </a:xfrm>
          <a:prstGeom prst="roundRect">
            <a:avLst>
              <a:gd name="adj" fmla="val 2500"/>
            </a:avLst>
          </a:prstGeom>
          <a:solidFill>
            <a:srgbClr val="0F6E56"/>
          </a:solidFill>
          <a:ln/>
        </p:spPr>
      </p:sp>
      <p:sp>
        <p:nvSpPr>
          <p:cNvPr id="9" name="Text 7"/>
          <p:cNvSpPr/>
          <p:nvPr/>
        </p:nvSpPr>
        <p:spPr>
          <a:xfrm>
            <a:off x="7132320" y="1691640"/>
            <a:ext cx="4114800" cy="365760"/>
          </a:xfrm>
          <a:prstGeom prst="rect">
            <a:avLst/>
          </a:prstGeom>
          <a:noFill/>
          <a:ln/>
        </p:spPr>
        <p:txBody>
          <a:bodyPr wrap="square"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Product_Master_List</a:t>
            </a:r>
            <a:endParaRPr lang="en-US" sz="1400" dirty="0"/>
          </a:p>
        </p:txBody>
      </p:sp>
      <p:sp>
        <p:nvSpPr>
          <p:cNvPr id="10" name="Text 8"/>
          <p:cNvSpPr/>
          <p:nvPr/>
        </p:nvSpPr>
        <p:spPr>
          <a:xfrm>
            <a:off x="7132320" y="2103120"/>
            <a:ext cx="4114800" cy="548640"/>
          </a:xfrm>
          <a:prstGeom prst="rect">
            <a:avLst/>
          </a:prstGeom>
          <a:noFill/>
          <a:ln/>
        </p:spPr>
        <p:txBody>
          <a:bodyPr wrap="square" rtlCol="0" anchor="ctr"/>
          <a:lstStyle/>
          <a:p>
            <a:pPr marL="0" indent="0">
              <a:lnSpc>
                <a:spcPct val="120000"/>
              </a:lnSpc>
              <a:buNone/>
            </a:pPr>
            <a:r>
              <a:rPr lang="en-US" sz="1100" dirty="0">
                <a:solidFill>
                  <a:srgbClr val="E1F5EE"/>
                </a:solidFill>
                <a:latin typeface="Calibri" pitchFamily="34" charset="0"/>
                <a:ea typeface="Calibri" pitchFamily="34" charset="-122"/>
                <a:cs typeface="Calibri" pitchFamily="34" charset="-120"/>
              </a:rPr>
              <a:t>"one" side</a:t>
            </a:r>
            <a:endParaRPr lang="en-US" sz="1100" dirty="0"/>
          </a:p>
          <a:p>
            <a:pPr marL="0" indent="0">
              <a:lnSpc>
                <a:spcPct val="120000"/>
              </a:lnSpc>
              <a:buNone/>
            </a:pPr>
            <a:r>
              <a:rPr lang="en-US" sz="1100" dirty="0">
                <a:solidFill>
                  <a:srgbClr val="E1F5EE"/>
                </a:solidFill>
                <a:latin typeface="Calibri" pitchFamily="34" charset="0"/>
                <a:ea typeface="Calibri" pitchFamily="34" charset="-122"/>
                <a:cs typeface="Calibri" pitchFamily="34" charset="-120"/>
              </a:rPr>
              <a:t>7 rows</a:t>
            </a:r>
            <a:endParaRPr lang="en-US" sz="1100" dirty="0"/>
          </a:p>
        </p:txBody>
      </p:sp>
      <p:sp>
        <p:nvSpPr>
          <p:cNvPr id="11" name="Shape 9"/>
          <p:cNvSpPr/>
          <p:nvPr/>
        </p:nvSpPr>
        <p:spPr>
          <a:xfrm>
            <a:off x="7132320" y="2834640"/>
            <a:ext cx="4114800" cy="1280160"/>
          </a:xfrm>
          <a:prstGeom prst="roundRect">
            <a:avLst>
              <a:gd name="adj" fmla="val 4286"/>
            </a:avLst>
          </a:prstGeom>
          <a:solidFill>
            <a:srgbClr val="085041"/>
          </a:solidFill>
          <a:ln/>
        </p:spPr>
      </p:sp>
      <p:sp>
        <p:nvSpPr>
          <p:cNvPr id="12" name="Text 10"/>
          <p:cNvSpPr/>
          <p:nvPr/>
        </p:nvSpPr>
        <p:spPr>
          <a:xfrm>
            <a:off x="7315200" y="2971800"/>
            <a:ext cx="3749040" cy="1051560"/>
          </a:xfrm>
          <a:prstGeom prst="rect">
            <a:avLst/>
          </a:prstGeom>
          <a:noFill/>
          <a:ln/>
        </p:spPr>
        <p:txBody>
          <a:bodyPr wrap="square" rtlCol="0" anchor="ctr"/>
          <a:lstStyle/>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Each SKU appears exactly</a:t>
            </a:r>
            <a:endParaRPr lang="en-US" sz="1150" dirty="0"/>
          </a:p>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once, holding cost, stock,</a:t>
            </a:r>
            <a:endParaRPr lang="en-US" sz="1150" dirty="0"/>
          </a:p>
          <a:p>
            <a:pPr marL="0" indent="0">
              <a:lnSpc>
                <a:spcPct val="125000"/>
              </a:lnSpc>
              <a:buNone/>
            </a:pPr>
            <a:r>
              <a:rPr lang="en-US" sz="1150" dirty="0">
                <a:solidFill>
                  <a:srgbClr val="FFFFFF"/>
                </a:solidFill>
                <a:latin typeface="Calibri" pitchFamily="34" charset="0"/>
                <a:ea typeface="Calibri" pitchFamily="34" charset="-122"/>
                <a:cs typeface="Calibri" pitchFamily="34" charset="-120"/>
              </a:rPr>
              <a:t>and reorder details</a:t>
            </a:r>
            <a:endParaRPr lang="en-US" sz="1150" dirty="0"/>
          </a:p>
        </p:txBody>
      </p:sp>
      <p:sp>
        <p:nvSpPr>
          <p:cNvPr id="13" name="Shape 11"/>
          <p:cNvSpPr/>
          <p:nvPr/>
        </p:nvSpPr>
        <p:spPr>
          <a:xfrm>
            <a:off x="5349240" y="2743200"/>
            <a:ext cx="1463040" cy="502920"/>
          </a:xfrm>
          <a:prstGeom prst="roundRect">
            <a:avLst>
              <a:gd name="adj" fmla="val 49091"/>
            </a:avLst>
          </a:prstGeom>
          <a:solidFill>
            <a:srgbClr val="5DCAA5"/>
          </a:solidFill>
          <a:ln/>
          <a:effectLst>
            <a:outerShdw blurRad="76200" dist="25400" dir="5400000" algn="bl" rotWithShape="0">
              <a:srgbClr val="000000">
                <a:alpha val="25000"/>
              </a:srgbClr>
            </a:outerShdw>
          </a:effectLst>
        </p:spPr>
      </p:sp>
      <p:sp>
        <p:nvSpPr>
          <p:cNvPr id="14" name="Text 12"/>
          <p:cNvSpPr/>
          <p:nvPr/>
        </p:nvSpPr>
        <p:spPr>
          <a:xfrm>
            <a:off x="5349240" y="2743200"/>
            <a:ext cx="1463040" cy="502920"/>
          </a:xfrm>
          <a:prstGeom prst="rect">
            <a:avLst/>
          </a:prstGeom>
          <a:noFill/>
          <a:ln/>
        </p:spPr>
        <p:txBody>
          <a:bodyPr wrap="square" rtlCol="0" anchor="ctr"/>
          <a:lstStyle/>
          <a:p>
            <a:pPr marL="0" indent="0" algn="ctr">
              <a:buNone/>
            </a:pPr>
            <a:r>
              <a:rPr lang="en-US" sz="1300" b="1" dirty="0">
                <a:solidFill>
                  <a:srgbClr val="085041"/>
                </a:solidFill>
                <a:latin typeface="Calibri" pitchFamily="34" charset="0"/>
                <a:ea typeface="Calibri" pitchFamily="34" charset="-122"/>
                <a:cs typeface="Calibri" pitchFamily="34" charset="-120"/>
              </a:rPr>
              <a:t>SKU</a:t>
            </a:r>
            <a:endParaRPr lang="en-US" sz="1300" dirty="0"/>
          </a:p>
        </p:txBody>
      </p:sp>
      <p:sp>
        <p:nvSpPr>
          <p:cNvPr id="15" name="Shape 13"/>
          <p:cNvSpPr/>
          <p:nvPr/>
        </p:nvSpPr>
        <p:spPr>
          <a:xfrm>
            <a:off x="640080" y="4663440"/>
            <a:ext cx="10881360" cy="1280160"/>
          </a:xfrm>
          <a:prstGeom prst="roundRect">
            <a:avLst>
              <a:gd name="adj" fmla="val 5714"/>
            </a:avLst>
          </a:prstGeom>
          <a:solidFill>
            <a:srgbClr val="E1F5EE"/>
          </a:solidFill>
          <a:ln/>
        </p:spPr>
      </p:sp>
      <p:sp>
        <p:nvSpPr>
          <p:cNvPr id="16" name="Text 14"/>
          <p:cNvSpPr/>
          <p:nvPr/>
        </p:nvSpPr>
        <p:spPr>
          <a:xfrm>
            <a:off x="914400" y="4846320"/>
            <a:ext cx="10332720" cy="320040"/>
          </a:xfrm>
          <a:prstGeom prst="rect">
            <a:avLst/>
          </a:prstGeom>
          <a:noFill/>
          <a:ln/>
        </p:spPr>
        <p:txBody>
          <a:bodyPr wrap="square" rtlCol="0" anchor="ctr"/>
          <a:lstStyle/>
          <a:p>
            <a:pPr marL="0" indent="0">
              <a:buNone/>
            </a:pPr>
            <a:r>
              <a:rPr lang="en-US" sz="1300" b="1" dirty="0">
                <a:solidFill>
                  <a:srgbClr val="085041"/>
                </a:solidFill>
                <a:latin typeface="Calibri" pitchFamily="34" charset="0"/>
                <a:ea typeface="Calibri" pitchFamily="34" charset="-122"/>
                <a:cs typeface="Calibri" pitchFamily="34" charset="-120"/>
              </a:rPr>
              <a:t>One-to-many relationship, joined on SKU</a:t>
            </a:r>
            <a:endParaRPr lang="en-US" sz="1300" dirty="0"/>
          </a:p>
        </p:txBody>
      </p:sp>
      <p:sp>
        <p:nvSpPr>
          <p:cNvPr id="17" name="Text 15"/>
          <p:cNvSpPr/>
          <p:nvPr/>
        </p:nvSpPr>
        <p:spPr>
          <a:xfrm>
            <a:off x="914400" y="5166360"/>
            <a:ext cx="10332720" cy="685800"/>
          </a:xfrm>
          <a:prstGeom prst="rect">
            <a:avLst/>
          </a:prstGeom>
          <a:noFill/>
          <a:ln/>
        </p:spPr>
        <p:txBody>
          <a:bodyPr wrap="square" rtlCol="0" anchor="ctr"/>
          <a:lstStyle/>
          <a:p>
            <a:pPr marL="0" indent="0">
              <a:lnSpc>
                <a:spcPct val="130000"/>
              </a:lnSpc>
              <a:buNone/>
            </a:pPr>
            <a:r>
              <a:rPr lang="en-US" sz="1150" dirty="0">
                <a:solidFill>
                  <a:srgbClr val="2C2C2A"/>
                </a:solidFill>
                <a:latin typeface="Calibri" pitchFamily="34" charset="0"/>
                <a:ea typeface="Calibri" pitchFamily="34" charset="-122"/>
                <a:cs typeface="Calibri" pitchFamily="34" charset="-120"/>
              </a:rPr>
              <a:t>One product in Product_Master_List can appear across many rows of Inventory_Transactions — this made it possible to enrich every sale with product-level context (cost, stock level, reorder point) without duplicating that data 1,415 times.</a:t>
            </a:r>
            <a:endParaRPr lang="en-US" sz="1150" dirty="0"/>
          </a:p>
        </p:txBody>
      </p:sp>
      <p:sp>
        <p:nvSpPr>
          <p:cNvPr id="18" name="Text 16"/>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19" name="Text 17"/>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Criterias Used</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Chart types selected for each analysis</a:t>
            </a:r>
            <a:endParaRPr lang="en-US" sz="1300" dirty="0"/>
          </a:p>
        </p:txBody>
      </p:sp>
      <p:sp>
        <p:nvSpPr>
          <p:cNvPr id="4" name="Shape 2"/>
          <p:cNvSpPr/>
          <p:nvPr/>
        </p:nvSpPr>
        <p:spPr>
          <a:xfrm>
            <a:off x="640080" y="1554480"/>
            <a:ext cx="10881360" cy="530352"/>
          </a:xfrm>
          <a:prstGeom prst="rect">
            <a:avLst/>
          </a:prstGeom>
          <a:solidFill>
            <a:srgbClr val="E1F5EE"/>
          </a:solidFill>
          <a:ln/>
        </p:spPr>
      </p:sp>
      <p:sp>
        <p:nvSpPr>
          <p:cNvPr id="5" name="Text 3"/>
          <p:cNvSpPr/>
          <p:nvPr/>
        </p:nvSpPr>
        <p:spPr>
          <a:xfrm>
            <a:off x="822960" y="1554480"/>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Revenue by Category</a:t>
            </a:r>
            <a:endParaRPr lang="en-US" sz="1250" dirty="0"/>
          </a:p>
        </p:txBody>
      </p:sp>
      <p:sp>
        <p:nvSpPr>
          <p:cNvPr id="6" name="Shape 4"/>
          <p:cNvSpPr/>
          <p:nvPr/>
        </p:nvSpPr>
        <p:spPr>
          <a:xfrm>
            <a:off x="7863840" y="1627632"/>
            <a:ext cx="3383280" cy="384048"/>
          </a:xfrm>
          <a:prstGeom prst="roundRect">
            <a:avLst>
              <a:gd name="adj" fmla="val 47619"/>
            </a:avLst>
          </a:prstGeom>
          <a:solidFill>
            <a:srgbClr val="085041"/>
          </a:solidFill>
          <a:ln/>
        </p:spPr>
      </p:sp>
      <p:sp>
        <p:nvSpPr>
          <p:cNvPr id="7" name="Text 5"/>
          <p:cNvSpPr/>
          <p:nvPr/>
        </p:nvSpPr>
        <p:spPr>
          <a:xfrm>
            <a:off x="7863840" y="1627632"/>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bar chart</a:t>
            </a:r>
            <a:endParaRPr lang="en-US" sz="1100" dirty="0"/>
          </a:p>
        </p:txBody>
      </p:sp>
      <p:sp>
        <p:nvSpPr>
          <p:cNvPr id="8" name="Shape 6"/>
          <p:cNvSpPr/>
          <p:nvPr/>
        </p:nvSpPr>
        <p:spPr>
          <a:xfrm>
            <a:off x="640080" y="2084832"/>
            <a:ext cx="10881360" cy="530352"/>
          </a:xfrm>
          <a:prstGeom prst="rect">
            <a:avLst/>
          </a:prstGeom>
          <a:solidFill>
            <a:srgbClr val="FFFFFF"/>
          </a:solidFill>
          <a:ln/>
        </p:spPr>
      </p:sp>
      <p:sp>
        <p:nvSpPr>
          <p:cNvPr id="9" name="Text 7"/>
          <p:cNvSpPr/>
          <p:nvPr/>
        </p:nvSpPr>
        <p:spPr>
          <a:xfrm>
            <a:off x="822960" y="2084832"/>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Revenue trend across 2025</a:t>
            </a:r>
            <a:endParaRPr lang="en-US" sz="1250" dirty="0"/>
          </a:p>
        </p:txBody>
      </p:sp>
      <p:sp>
        <p:nvSpPr>
          <p:cNvPr id="10" name="Shape 8"/>
          <p:cNvSpPr/>
          <p:nvPr/>
        </p:nvSpPr>
        <p:spPr>
          <a:xfrm>
            <a:off x="7863840" y="2157984"/>
            <a:ext cx="3383280" cy="384048"/>
          </a:xfrm>
          <a:prstGeom prst="roundRect">
            <a:avLst>
              <a:gd name="adj" fmla="val 47619"/>
            </a:avLst>
          </a:prstGeom>
          <a:solidFill>
            <a:srgbClr val="085041"/>
          </a:solidFill>
          <a:ln/>
        </p:spPr>
      </p:sp>
      <p:sp>
        <p:nvSpPr>
          <p:cNvPr id="11" name="Text 9"/>
          <p:cNvSpPr/>
          <p:nvPr/>
        </p:nvSpPr>
        <p:spPr>
          <a:xfrm>
            <a:off x="7863840" y="2157984"/>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Line chart</a:t>
            </a:r>
            <a:endParaRPr lang="en-US" sz="1100" dirty="0"/>
          </a:p>
        </p:txBody>
      </p:sp>
      <p:sp>
        <p:nvSpPr>
          <p:cNvPr id="12" name="Shape 10"/>
          <p:cNvSpPr/>
          <p:nvPr/>
        </p:nvSpPr>
        <p:spPr>
          <a:xfrm>
            <a:off x="640080" y="2615184"/>
            <a:ext cx="10881360" cy="530352"/>
          </a:xfrm>
          <a:prstGeom prst="rect">
            <a:avLst/>
          </a:prstGeom>
          <a:solidFill>
            <a:srgbClr val="E1F5EE"/>
          </a:solidFill>
          <a:ln/>
        </p:spPr>
      </p:sp>
      <p:sp>
        <p:nvSpPr>
          <p:cNvPr id="13" name="Text 11"/>
          <p:cNvSpPr/>
          <p:nvPr/>
        </p:nvSpPr>
        <p:spPr>
          <a:xfrm>
            <a:off x="822960" y="2615184"/>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Risk Level distribution</a:t>
            </a:r>
            <a:endParaRPr lang="en-US" sz="1250" dirty="0"/>
          </a:p>
        </p:txBody>
      </p:sp>
      <p:sp>
        <p:nvSpPr>
          <p:cNvPr id="14" name="Shape 12"/>
          <p:cNvSpPr/>
          <p:nvPr/>
        </p:nvSpPr>
        <p:spPr>
          <a:xfrm>
            <a:off x="7863840" y="2688336"/>
            <a:ext cx="3383280" cy="384048"/>
          </a:xfrm>
          <a:prstGeom prst="roundRect">
            <a:avLst>
              <a:gd name="adj" fmla="val 47619"/>
            </a:avLst>
          </a:prstGeom>
          <a:solidFill>
            <a:srgbClr val="085041"/>
          </a:solidFill>
          <a:ln/>
        </p:spPr>
      </p:sp>
      <p:sp>
        <p:nvSpPr>
          <p:cNvPr id="15" name="Text 13"/>
          <p:cNvSpPr/>
          <p:nvPr/>
        </p:nvSpPr>
        <p:spPr>
          <a:xfrm>
            <a:off x="7863840" y="2688336"/>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Donut chart</a:t>
            </a:r>
            <a:endParaRPr lang="en-US" sz="1100" dirty="0"/>
          </a:p>
        </p:txBody>
      </p:sp>
      <p:sp>
        <p:nvSpPr>
          <p:cNvPr id="16" name="Shape 14"/>
          <p:cNvSpPr/>
          <p:nvPr/>
        </p:nvSpPr>
        <p:spPr>
          <a:xfrm>
            <a:off x="640080" y="3145536"/>
            <a:ext cx="10881360" cy="530352"/>
          </a:xfrm>
          <a:prstGeom prst="rect">
            <a:avLst/>
          </a:prstGeom>
          <a:solidFill>
            <a:srgbClr val="FFFFFF"/>
          </a:solidFill>
          <a:ln/>
        </p:spPr>
      </p:sp>
      <p:sp>
        <p:nvSpPr>
          <p:cNvPr id="17" name="Text 15"/>
          <p:cNvSpPr/>
          <p:nvPr/>
        </p:nvSpPr>
        <p:spPr>
          <a:xfrm>
            <a:off x="822960" y="3145536"/>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Stock Level vs Reorder Point by SKU</a:t>
            </a:r>
            <a:endParaRPr lang="en-US" sz="1250" dirty="0"/>
          </a:p>
        </p:txBody>
      </p:sp>
      <p:sp>
        <p:nvSpPr>
          <p:cNvPr id="18" name="Shape 16"/>
          <p:cNvSpPr/>
          <p:nvPr/>
        </p:nvSpPr>
        <p:spPr>
          <a:xfrm>
            <a:off x="7863840" y="3218688"/>
            <a:ext cx="3383280" cy="384048"/>
          </a:xfrm>
          <a:prstGeom prst="roundRect">
            <a:avLst>
              <a:gd name="adj" fmla="val 47619"/>
            </a:avLst>
          </a:prstGeom>
          <a:solidFill>
            <a:srgbClr val="085041"/>
          </a:solidFill>
          <a:ln/>
        </p:spPr>
      </p:sp>
      <p:sp>
        <p:nvSpPr>
          <p:cNvPr id="19" name="Text 17"/>
          <p:cNvSpPr/>
          <p:nvPr/>
        </p:nvSpPr>
        <p:spPr>
          <a:xfrm>
            <a:off x="7863840" y="3218688"/>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bar chart</a:t>
            </a:r>
            <a:endParaRPr lang="en-US" sz="1100" dirty="0"/>
          </a:p>
        </p:txBody>
      </p:sp>
      <p:sp>
        <p:nvSpPr>
          <p:cNvPr id="20" name="Shape 18"/>
          <p:cNvSpPr/>
          <p:nvPr/>
        </p:nvSpPr>
        <p:spPr>
          <a:xfrm>
            <a:off x="640080" y="3675888"/>
            <a:ext cx="10881360" cy="530352"/>
          </a:xfrm>
          <a:prstGeom prst="rect">
            <a:avLst/>
          </a:prstGeom>
          <a:solidFill>
            <a:srgbClr val="E1F5EE"/>
          </a:solidFill>
          <a:ln/>
        </p:spPr>
      </p:sp>
      <p:sp>
        <p:nvSpPr>
          <p:cNvPr id="21" name="Text 19"/>
          <p:cNvSpPr/>
          <p:nvPr/>
        </p:nvSpPr>
        <p:spPr>
          <a:xfrm>
            <a:off x="822960" y="3675888"/>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Revenue by Location</a:t>
            </a:r>
            <a:endParaRPr lang="en-US" sz="1250" dirty="0"/>
          </a:p>
        </p:txBody>
      </p:sp>
      <p:sp>
        <p:nvSpPr>
          <p:cNvPr id="22" name="Shape 20"/>
          <p:cNvSpPr/>
          <p:nvPr/>
        </p:nvSpPr>
        <p:spPr>
          <a:xfrm>
            <a:off x="7863840" y="3749040"/>
            <a:ext cx="3383280" cy="384048"/>
          </a:xfrm>
          <a:prstGeom prst="roundRect">
            <a:avLst>
              <a:gd name="adj" fmla="val 47619"/>
            </a:avLst>
          </a:prstGeom>
          <a:solidFill>
            <a:srgbClr val="085041"/>
          </a:solidFill>
          <a:ln/>
        </p:spPr>
      </p:sp>
      <p:sp>
        <p:nvSpPr>
          <p:cNvPr id="23" name="Text 21"/>
          <p:cNvSpPr/>
          <p:nvPr/>
        </p:nvSpPr>
        <p:spPr>
          <a:xfrm>
            <a:off x="7863840" y="3749040"/>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bar chart</a:t>
            </a:r>
            <a:endParaRPr lang="en-US" sz="1100" dirty="0"/>
          </a:p>
        </p:txBody>
      </p:sp>
      <p:sp>
        <p:nvSpPr>
          <p:cNvPr id="24" name="Shape 22"/>
          <p:cNvSpPr/>
          <p:nvPr/>
        </p:nvSpPr>
        <p:spPr>
          <a:xfrm>
            <a:off x="640080" y="4206240"/>
            <a:ext cx="10881360" cy="530352"/>
          </a:xfrm>
          <a:prstGeom prst="rect">
            <a:avLst/>
          </a:prstGeom>
          <a:solidFill>
            <a:srgbClr val="FFFFFF"/>
          </a:solidFill>
          <a:ln/>
        </p:spPr>
      </p:sp>
      <p:sp>
        <p:nvSpPr>
          <p:cNvPr id="25" name="Text 23"/>
          <p:cNvSpPr/>
          <p:nvPr/>
        </p:nvSpPr>
        <p:spPr>
          <a:xfrm>
            <a:off x="822960" y="4206240"/>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Average Lead Time by Supplier</a:t>
            </a:r>
            <a:endParaRPr lang="en-US" sz="1250" dirty="0"/>
          </a:p>
        </p:txBody>
      </p:sp>
      <p:sp>
        <p:nvSpPr>
          <p:cNvPr id="26" name="Shape 24"/>
          <p:cNvSpPr/>
          <p:nvPr/>
        </p:nvSpPr>
        <p:spPr>
          <a:xfrm>
            <a:off x="7863840" y="4279392"/>
            <a:ext cx="3383280" cy="384048"/>
          </a:xfrm>
          <a:prstGeom prst="roundRect">
            <a:avLst>
              <a:gd name="adj" fmla="val 47619"/>
            </a:avLst>
          </a:prstGeom>
          <a:solidFill>
            <a:srgbClr val="085041"/>
          </a:solidFill>
          <a:ln/>
        </p:spPr>
      </p:sp>
      <p:sp>
        <p:nvSpPr>
          <p:cNvPr id="27" name="Text 25"/>
          <p:cNvSpPr/>
          <p:nvPr/>
        </p:nvSpPr>
        <p:spPr>
          <a:xfrm>
            <a:off x="7863840" y="4279392"/>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column chart</a:t>
            </a:r>
            <a:endParaRPr lang="en-US" sz="1100" dirty="0"/>
          </a:p>
        </p:txBody>
      </p:sp>
      <p:sp>
        <p:nvSpPr>
          <p:cNvPr id="28" name="Shape 26"/>
          <p:cNvSpPr/>
          <p:nvPr/>
        </p:nvSpPr>
        <p:spPr>
          <a:xfrm>
            <a:off x="640080" y="4736592"/>
            <a:ext cx="10881360" cy="530352"/>
          </a:xfrm>
          <a:prstGeom prst="rect">
            <a:avLst/>
          </a:prstGeom>
          <a:solidFill>
            <a:srgbClr val="E1F5EE"/>
          </a:solidFill>
          <a:ln/>
        </p:spPr>
      </p:sp>
      <p:sp>
        <p:nvSpPr>
          <p:cNvPr id="29" name="Text 27"/>
          <p:cNvSpPr/>
          <p:nvPr/>
        </p:nvSpPr>
        <p:spPr>
          <a:xfrm>
            <a:off x="822960" y="4736592"/>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Total Units Sold by Category</a:t>
            </a:r>
            <a:endParaRPr lang="en-US" sz="1250" dirty="0"/>
          </a:p>
        </p:txBody>
      </p:sp>
      <p:sp>
        <p:nvSpPr>
          <p:cNvPr id="30" name="Shape 28"/>
          <p:cNvSpPr/>
          <p:nvPr/>
        </p:nvSpPr>
        <p:spPr>
          <a:xfrm>
            <a:off x="7863840" y="4809744"/>
            <a:ext cx="3383280" cy="384048"/>
          </a:xfrm>
          <a:prstGeom prst="roundRect">
            <a:avLst>
              <a:gd name="adj" fmla="val 47619"/>
            </a:avLst>
          </a:prstGeom>
          <a:solidFill>
            <a:srgbClr val="085041"/>
          </a:solidFill>
          <a:ln/>
        </p:spPr>
      </p:sp>
      <p:sp>
        <p:nvSpPr>
          <p:cNvPr id="31" name="Text 29"/>
          <p:cNvSpPr/>
          <p:nvPr/>
        </p:nvSpPr>
        <p:spPr>
          <a:xfrm>
            <a:off x="7863840" y="4809744"/>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bar chart</a:t>
            </a:r>
            <a:endParaRPr lang="en-US" sz="1100" dirty="0"/>
          </a:p>
        </p:txBody>
      </p:sp>
      <p:sp>
        <p:nvSpPr>
          <p:cNvPr id="32" name="Shape 30"/>
          <p:cNvSpPr/>
          <p:nvPr/>
        </p:nvSpPr>
        <p:spPr>
          <a:xfrm>
            <a:off x="640080" y="5266944"/>
            <a:ext cx="10881360" cy="530352"/>
          </a:xfrm>
          <a:prstGeom prst="rect">
            <a:avLst/>
          </a:prstGeom>
          <a:solidFill>
            <a:srgbClr val="FFFFFF"/>
          </a:solidFill>
          <a:ln/>
        </p:spPr>
      </p:sp>
      <p:sp>
        <p:nvSpPr>
          <p:cNvPr id="33" name="Text 31"/>
          <p:cNvSpPr/>
          <p:nvPr/>
        </p:nvSpPr>
        <p:spPr>
          <a:xfrm>
            <a:off x="822960" y="5266944"/>
            <a:ext cx="6858000" cy="530352"/>
          </a:xfrm>
          <a:prstGeom prst="rect">
            <a:avLst/>
          </a:prstGeom>
          <a:noFill/>
          <a:ln/>
        </p:spPr>
        <p:txBody>
          <a:bodyPr wrap="square" rtlCol="0" anchor="ctr"/>
          <a:lstStyle/>
          <a:p>
            <a:pPr marL="0" indent="0">
              <a:buNone/>
            </a:pPr>
            <a:r>
              <a:rPr lang="en-US" sz="1250" dirty="0">
                <a:solidFill>
                  <a:srgbClr val="2C2C2A"/>
                </a:solidFill>
                <a:latin typeface="Calibri" pitchFamily="34" charset="0"/>
                <a:ea typeface="Calibri" pitchFamily="34" charset="-122"/>
                <a:cs typeface="Calibri" pitchFamily="34" charset="-120"/>
              </a:rPr>
              <a:t>Average Lead Time by Risk Level</a:t>
            </a:r>
            <a:endParaRPr lang="en-US" sz="1250" dirty="0"/>
          </a:p>
        </p:txBody>
      </p:sp>
      <p:sp>
        <p:nvSpPr>
          <p:cNvPr id="34" name="Shape 32"/>
          <p:cNvSpPr/>
          <p:nvPr/>
        </p:nvSpPr>
        <p:spPr>
          <a:xfrm>
            <a:off x="7863840" y="5340096"/>
            <a:ext cx="3383280" cy="384048"/>
          </a:xfrm>
          <a:prstGeom prst="roundRect">
            <a:avLst>
              <a:gd name="adj" fmla="val 47619"/>
            </a:avLst>
          </a:prstGeom>
          <a:solidFill>
            <a:srgbClr val="085041"/>
          </a:solidFill>
          <a:ln/>
        </p:spPr>
      </p:sp>
      <p:sp>
        <p:nvSpPr>
          <p:cNvPr id="35" name="Text 33"/>
          <p:cNvSpPr/>
          <p:nvPr/>
        </p:nvSpPr>
        <p:spPr>
          <a:xfrm>
            <a:off x="7863840" y="5340096"/>
            <a:ext cx="3383280" cy="384048"/>
          </a:xfrm>
          <a:prstGeom prst="rect">
            <a:avLst/>
          </a:prstGeom>
          <a:noFill/>
          <a:ln/>
        </p:spPr>
        <p:txBody>
          <a:bodyPr wrap="square" rtlCol="0" anchor="ctr"/>
          <a:lstStyle/>
          <a:p>
            <a:pPr marL="0" indent="0" algn="ctr">
              <a:buNone/>
            </a:pPr>
            <a:r>
              <a:rPr lang="en-US" sz="1100" b="1" dirty="0">
                <a:solidFill>
                  <a:srgbClr val="5DCAA5"/>
                </a:solidFill>
                <a:latin typeface="Calibri" pitchFamily="34" charset="0"/>
                <a:ea typeface="Calibri" pitchFamily="34" charset="-122"/>
                <a:cs typeface="Calibri" pitchFamily="34" charset="-120"/>
              </a:rPr>
              <a:t>Clustered column chart</a:t>
            </a:r>
            <a:endParaRPr lang="en-US" sz="1100" dirty="0"/>
          </a:p>
        </p:txBody>
      </p:sp>
      <p:sp>
        <p:nvSpPr>
          <p:cNvPr id="36" name="Text 34"/>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37" name="Text 35"/>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Criterias Used</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KPI cards and slicers</a:t>
            </a:r>
            <a:endParaRPr lang="en-US" sz="1300" dirty="0"/>
          </a:p>
        </p:txBody>
      </p:sp>
      <p:sp>
        <p:nvSpPr>
          <p:cNvPr id="4" name="Text 2"/>
          <p:cNvSpPr/>
          <p:nvPr/>
        </p:nvSpPr>
        <p:spPr>
          <a:xfrm>
            <a:off x="640080" y="1417320"/>
            <a:ext cx="5029200" cy="365760"/>
          </a:xfrm>
          <a:prstGeom prst="rect">
            <a:avLst/>
          </a:prstGeom>
          <a:noFill/>
          <a:ln/>
        </p:spPr>
        <p:txBody>
          <a:bodyPr wrap="square" rtlCol="0" anchor="ctr"/>
          <a:lstStyle/>
          <a:p>
            <a:pPr marL="0" indent="0">
              <a:buNone/>
            </a:pPr>
            <a:r>
              <a:rPr lang="en-US" sz="1500" b="1" dirty="0">
                <a:solidFill>
                  <a:srgbClr val="085041"/>
                </a:solidFill>
                <a:latin typeface="Calibri" pitchFamily="34" charset="0"/>
                <a:ea typeface="Calibri" pitchFamily="34" charset="-122"/>
                <a:cs typeface="Calibri" pitchFamily="34" charset="-120"/>
              </a:rPr>
              <a:t>KPI Cards</a:t>
            </a:r>
            <a:endParaRPr lang="en-US" sz="1500" dirty="0"/>
          </a:p>
        </p:txBody>
      </p:sp>
      <p:sp>
        <p:nvSpPr>
          <p:cNvPr id="5" name="Shape 3"/>
          <p:cNvSpPr/>
          <p:nvPr/>
        </p:nvSpPr>
        <p:spPr>
          <a:xfrm>
            <a:off x="640080" y="1874520"/>
            <a:ext cx="5029200" cy="502920"/>
          </a:xfrm>
          <a:prstGeom prst="roundRect">
            <a:avLst>
              <a:gd name="adj" fmla="val 14545"/>
            </a:avLst>
          </a:prstGeom>
          <a:solidFill>
            <a:srgbClr val="E1F5EE"/>
          </a:solidFill>
          <a:ln/>
        </p:spPr>
      </p:sp>
      <p:sp>
        <p:nvSpPr>
          <p:cNvPr id="6" name="Text 4"/>
          <p:cNvSpPr/>
          <p:nvPr/>
        </p:nvSpPr>
        <p:spPr>
          <a:xfrm>
            <a:off x="868680" y="1874520"/>
            <a:ext cx="4572000" cy="502920"/>
          </a:xfrm>
          <a:prstGeom prst="rect">
            <a:avLst/>
          </a:prstGeom>
          <a:noFill/>
          <a:ln/>
        </p:spPr>
        <p:txBody>
          <a:bodyPr wrap="square" rtlCol="0" anchor="ctr"/>
          <a:lstStyle/>
          <a:p>
            <a:pPr marL="0" indent="0">
              <a:buNone/>
            </a:pPr>
            <a:r>
              <a:rPr lang="en-US" sz="1250" b="1" dirty="0">
                <a:solidFill>
                  <a:srgbClr val="085041"/>
                </a:solidFill>
                <a:latin typeface="Calibri" pitchFamily="34" charset="0"/>
                <a:ea typeface="Calibri" pitchFamily="34" charset="-122"/>
                <a:cs typeface="Calibri" pitchFamily="34" charset="-120"/>
              </a:rPr>
              <a:t>Total Revenue</a:t>
            </a:r>
            <a:endParaRPr lang="en-US" sz="1250" dirty="0"/>
          </a:p>
        </p:txBody>
      </p:sp>
      <p:sp>
        <p:nvSpPr>
          <p:cNvPr id="7" name="Shape 5"/>
          <p:cNvSpPr/>
          <p:nvPr/>
        </p:nvSpPr>
        <p:spPr>
          <a:xfrm>
            <a:off x="640080" y="2496312"/>
            <a:ext cx="5029200" cy="502920"/>
          </a:xfrm>
          <a:prstGeom prst="roundRect">
            <a:avLst>
              <a:gd name="adj" fmla="val 14545"/>
            </a:avLst>
          </a:prstGeom>
          <a:solidFill>
            <a:srgbClr val="E1F5EE"/>
          </a:solidFill>
          <a:ln/>
        </p:spPr>
      </p:sp>
      <p:sp>
        <p:nvSpPr>
          <p:cNvPr id="8" name="Text 6"/>
          <p:cNvSpPr/>
          <p:nvPr/>
        </p:nvSpPr>
        <p:spPr>
          <a:xfrm>
            <a:off x="868680" y="2496312"/>
            <a:ext cx="4572000" cy="502920"/>
          </a:xfrm>
          <a:prstGeom prst="rect">
            <a:avLst/>
          </a:prstGeom>
          <a:noFill/>
          <a:ln/>
        </p:spPr>
        <p:txBody>
          <a:bodyPr wrap="square" rtlCol="0" anchor="ctr"/>
          <a:lstStyle/>
          <a:p>
            <a:pPr marL="0" indent="0">
              <a:buNone/>
            </a:pPr>
            <a:r>
              <a:rPr lang="en-US" sz="1250" b="1" dirty="0">
                <a:solidFill>
                  <a:srgbClr val="085041"/>
                </a:solidFill>
                <a:latin typeface="Calibri" pitchFamily="34" charset="0"/>
                <a:ea typeface="Calibri" pitchFamily="34" charset="-122"/>
                <a:cs typeface="Calibri" pitchFamily="34" charset="-120"/>
              </a:rPr>
              <a:t>Total Orders</a:t>
            </a:r>
            <a:endParaRPr lang="en-US" sz="1250" dirty="0"/>
          </a:p>
        </p:txBody>
      </p:sp>
      <p:sp>
        <p:nvSpPr>
          <p:cNvPr id="9" name="Shape 7"/>
          <p:cNvSpPr/>
          <p:nvPr/>
        </p:nvSpPr>
        <p:spPr>
          <a:xfrm>
            <a:off x="640080" y="3118104"/>
            <a:ext cx="5029200" cy="502920"/>
          </a:xfrm>
          <a:prstGeom prst="roundRect">
            <a:avLst>
              <a:gd name="adj" fmla="val 14545"/>
            </a:avLst>
          </a:prstGeom>
          <a:solidFill>
            <a:srgbClr val="E1F5EE"/>
          </a:solidFill>
          <a:ln/>
        </p:spPr>
      </p:sp>
      <p:sp>
        <p:nvSpPr>
          <p:cNvPr id="10" name="Text 8"/>
          <p:cNvSpPr/>
          <p:nvPr/>
        </p:nvSpPr>
        <p:spPr>
          <a:xfrm>
            <a:off x="868680" y="3118104"/>
            <a:ext cx="4572000" cy="502920"/>
          </a:xfrm>
          <a:prstGeom prst="rect">
            <a:avLst/>
          </a:prstGeom>
          <a:noFill/>
          <a:ln/>
        </p:spPr>
        <p:txBody>
          <a:bodyPr wrap="square" rtlCol="0" anchor="ctr"/>
          <a:lstStyle/>
          <a:p>
            <a:pPr marL="0" indent="0">
              <a:buNone/>
            </a:pPr>
            <a:r>
              <a:rPr lang="en-US" sz="1250" b="1" dirty="0">
                <a:solidFill>
                  <a:srgbClr val="085041"/>
                </a:solidFill>
                <a:latin typeface="Calibri" pitchFamily="34" charset="0"/>
                <a:ea typeface="Calibri" pitchFamily="34" charset="-122"/>
                <a:cs typeface="Calibri" pitchFamily="34" charset="-120"/>
              </a:rPr>
              <a:t>Total Stock Value</a:t>
            </a:r>
            <a:endParaRPr lang="en-US" sz="1250" dirty="0"/>
          </a:p>
        </p:txBody>
      </p:sp>
      <p:sp>
        <p:nvSpPr>
          <p:cNvPr id="11" name="Shape 9"/>
          <p:cNvSpPr/>
          <p:nvPr/>
        </p:nvSpPr>
        <p:spPr>
          <a:xfrm>
            <a:off x="640080" y="3739896"/>
            <a:ext cx="5029200" cy="502920"/>
          </a:xfrm>
          <a:prstGeom prst="roundRect">
            <a:avLst>
              <a:gd name="adj" fmla="val 14545"/>
            </a:avLst>
          </a:prstGeom>
          <a:solidFill>
            <a:srgbClr val="E1F5EE"/>
          </a:solidFill>
          <a:ln/>
        </p:spPr>
      </p:sp>
      <p:sp>
        <p:nvSpPr>
          <p:cNvPr id="12" name="Text 10"/>
          <p:cNvSpPr/>
          <p:nvPr/>
        </p:nvSpPr>
        <p:spPr>
          <a:xfrm>
            <a:off x="868680" y="3739896"/>
            <a:ext cx="4572000" cy="502920"/>
          </a:xfrm>
          <a:prstGeom prst="rect">
            <a:avLst/>
          </a:prstGeom>
          <a:noFill/>
          <a:ln/>
        </p:spPr>
        <p:txBody>
          <a:bodyPr wrap="square" rtlCol="0" anchor="ctr"/>
          <a:lstStyle/>
          <a:p>
            <a:pPr marL="0" indent="0">
              <a:buNone/>
            </a:pPr>
            <a:r>
              <a:rPr lang="en-US" sz="1250" b="1" dirty="0">
                <a:solidFill>
                  <a:srgbClr val="085041"/>
                </a:solidFill>
                <a:latin typeface="Calibri" pitchFamily="34" charset="0"/>
                <a:ea typeface="Calibri" pitchFamily="34" charset="-122"/>
                <a:cs typeface="Calibri" pitchFamily="34" charset="-120"/>
              </a:rPr>
              <a:t>High Risk %</a:t>
            </a:r>
            <a:endParaRPr lang="en-US" sz="1250" dirty="0"/>
          </a:p>
        </p:txBody>
      </p:sp>
      <p:sp>
        <p:nvSpPr>
          <p:cNvPr id="13" name="Shape 11"/>
          <p:cNvSpPr/>
          <p:nvPr/>
        </p:nvSpPr>
        <p:spPr>
          <a:xfrm>
            <a:off x="640080" y="4361688"/>
            <a:ext cx="5029200" cy="502920"/>
          </a:xfrm>
          <a:prstGeom prst="roundRect">
            <a:avLst>
              <a:gd name="adj" fmla="val 14545"/>
            </a:avLst>
          </a:prstGeom>
          <a:solidFill>
            <a:srgbClr val="E1F5EE"/>
          </a:solidFill>
          <a:ln/>
        </p:spPr>
      </p:sp>
      <p:sp>
        <p:nvSpPr>
          <p:cNvPr id="14" name="Text 12"/>
          <p:cNvSpPr/>
          <p:nvPr/>
        </p:nvSpPr>
        <p:spPr>
          <a:xfrm>
            <a:off x="868680" y="4361688"/>
            <a:ext cx="4572000" cy="502920"/>
          </a:xfrm>
          <a:prstGeom prst="rect">
            <a:avLst/>
          </a:prstGeom>
          <a:noFill/>
          <a:ln/>
        </p:spPr>
        <p:txBody>
          <a:bodyPr wrap="square" rtlCol="0" anchor="ctr"/>
          <a:lstStyle/>
          <a:p>
            <a:pPr marL="0" indent="0">
              <a:buNone/>
            </a:pPr>
            <a:r>
              <a:rPr lang="en-US" sz="1250" b="1" dirty="0">
                <a:solidFill>
                  <a:srgbClr val="085041"/>
                </a:solidFill>
                <a:latin typeface="Calibri" pitchFamily="34" charset="0"/>
                <a:ea typeface="Calibri" pitchFamily="34" charset="-122"/>
                <a:cs typeface="Calibri" pitchFamily="34" charset="-120"/>
              </a:rPr>
              <a:t>Products Below Reorder Point</a:t>
            </a:r>
            <a:endParaRPr lang="en-US" sz="1250" dirty="0"/>
          </a:p>
        </p:txBody>
      </p:sp>
      <p:sp>
        <p:nvSpPr>
          <p:cNvPr id="15" name="Text 13"/>
          <p:cNvSpPr/>
          <p:nvPr/>
        </p:nvSpPr>
        <p:spPr>
          <a:xfrm>
            <a:off x="6126480" y="1417320"/>
            <a:ext cx="5029200" cy="365760"/>
          </a:xfrm>
          <a:prstGeom prst="rect">
            <a:avLst/>
          </a:prstGeom>
          <a:noFill/>
          <a:ln/>
        </p:spPr>
        <p:txBody>
          <a:bodyPr wrap="square" rtlCol="0" anchor="ctr"/>
          <a:lstStyle/>
          <a:p>
            <a:pPr marL="0" indent="0">
              <a:buNone/>
            </a:pPr>
            <a:r>
              <a:rPr lang="en-US" sz="1500" b="1" dirty="0">
                <a:solidFill>
                  <a:srgbClr val="085041"/>
                </a:solidFill>
                <a:latin typeface="Calibri" pitchFamily="34" charset="0"/>
                <a:ea typeface="Calibri" pitchFamily="34" charset="-122"/>
                <a:cs typeface="Calibri" pitchFamily="34" charset="-120"/>
              </a:rPr>
              <a:t>Slicers</a:t>
            </a:r>
            <a:endParaRPr lang="en-US" sz="1500" dirty="0"/>
          </a:p>
        </p:txBody>
      </p:sp>
      <p:sp>
        <p:nvSpPr>
          <p:cNvPr id="16" name="Shape 14"/>
          <p:cNvSpPr/>
          <p:nvPr/>
        </p:nvSpPr>
        <p:spPr>
          <a:xfrm>
            <a:off x="6126480" y="1874520"/>
            <a:ext cx="5029200" cy="502920"/>
          </a:xfrm>
          <a:prstGeom prst="roundRect">
            <a:avLst>
              <a:gd name="adj" fmla="val 14545"/>
            </a:avLst>
          </a:prstGeom>
          <a:solidFill>
            <a:srgbClr val="085041"/>
          </a:solidFill>
          <a:ln/>
        </p:spPr>
      </p:sp>
      <p:sp>
        <p:nvSpPr>
          <p:cNvPr id="17" name="Text 15"/>
          <p:cNvSpPr/>
          <p:nvPr/>
        </p:nvSpPr>
        <p:spPr>
          <a:xfrm>
            <a:off x="6355080" y="1874520"/>
            <a:ext cx="4572000" cy="5029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Category</a:t>
            </a:r>
            <a:endParaRPr lang="en-US" sz="1250" dirty="0"/>
          </a:p>
        </p:txBody>
      </p:sp>
      <p:sp>
        <p:nvSpPr>
          <p:cNvPr id="18" name="Shape 16"/>
          <p:cNvSpPr/>
          <p:nvPr/>
        </p:nvSpPr>
        <p:spPr>
          <a:xfrm>
            <a:off x="6126480" y="2496312"/>
            <a:ext cx="5029200" cy="502920"/>
          </a:xfrm>
          <a:prstGeom prst="roundRect">
            <a:avLst>
              <a:gd name="adj" fmla="val 14545"/>
            </a:avLst>
          </a:prstGeom>
          <a:solidFill>
            <a:srgbClr val="085041"/>
          </a:solidFill>
          <a:ln/>
        </p:spPr>
      </p:sp>
      <p:sp>
        <p:nvSpPr>
          <p:cNvPr id="19" name="Text 17"/>
          <p:cNvSpPr/>
          <p:nvPr/>
        </p:nvSpPr>
        <p:spPr>
          <a:xfrm>
            <a:off x="6355080" y="2496312"/>
            <a:ext cx="4572000" cy="5029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Location</a:t>
            </a:r>
            <a:endParaRPr lang="en-US" sz="1250" dirty="0"/>
          </a:p>
        </p:txBody>
      </p:sp>
      <p:sp>
        <p:nvSpPr>
          <p:cNvPr id="20" name="Shape 18"/>
          <p:cNvSpPr/>
          <p:nvPr/>
        </p:nvSpPr>
        <p:spPr>
          <a:xfrm>
            <a:off x="6126480" y="3118104"/>
            <a:ext cx="5029200" cy="502920"/>
          </a:xfrm>
          <a:prstGeom prst="roundRect">
            <a:avLst>
              <a:gd name="adj" fmla="val 14545"/>
            </a:avLst>
          </a:prstGeom>
          <a:solidFill>
            <a:srgbClr val="085041"/>
          </a:solidFill>
          <a:ln/>
        </p:spPr>
      </p:sp>
      <p:sp>
        <p:nvSpPr>
          <p:cNvPr id="21" name="Text 19"/>
          <p:cNvSpPr/>
          <p:nvPr/>
        </p:nvSpPr>
        <p:spPr>
          <a:xfrm>
            <a:off x="6355080" y="3118104"/>
            <a:ext cx="4572000" cy="502920"/>
          </a:xfrm>
          <a:prstGeom prst="rect">
            <a:avLst/>
          </a:prstGeom>
          <a:noFill/>
          <a:ln/>
        </p:spPr>
        <p:txBody>
          <a:bodyPr wrap="square" rtlCol="0" anchor="ctr"/>
          <a:lstStyle/>
          <a:p>
            <a:pPr marL="0" indent="0">
              <a:buNone/>
            </a:pPr>
            <a:r>
              <a:rPr lang="en-US" sz="1250" b="1" dirty="0">
                <a:solidFill>
                  <a:srgbClr val="FFFFFF"/>
                </a:solidFill>
                <a:latin typeface="Calibri" pitchFamily="34" charset="0"/>
                <a:ea typeface="Calibri" pitchFamily="34" charset="-122"/>
                <a:cs typeface="Calibri" pitchFamily="34" charset="-120"/>
              </a:rPr>
              <a:t>Month</a:t>
            </a:r>
            <a:endParaRPr lang="en-US" sz="1250" dirty="0"/>
          </a:p>
        </p:txBody>
      </p:sp>
      <p:sp>
        <p:nvSpPr>
          <p:cNvPr id="22" name="Text 20"/>
          <p:cNvSpPr/>
          <p:nvPr/>
        </p:nvSpPr>
        <p:spPr>
          <a:xfrm>
            <a:off x="6126480" y="4014216"/>
            <a:ext cx="5029200" cy="1280160"/>
          </a:xfrm>
          <a:prstGeom prst="rect">
            <a:avLst/>
          </a:prstGeom>
          <a:noFill/>
          <a:ln/>
        </p:spPr>
        <p:txBody>
          <a:bodyPr wrap="square" rtlCol="0" anchor="ctr"/>
          <a:lstStyle/>
          <a:p>
            <a:pPr marL="0" indent="0">
              <a:lnSpc>
                <a:spcPct val="130000"/>
              </a:lnSpc>
              <a:buNone/>
            </a:pPr>
            <a:r>
              <a:rPr lang="en-US" sz="1100" i="1" dirty="0">
                <a:solidFill>
                  <a:srgbClr val="5F5E5A"/>
                </a:solidFill>
                <a:latin typeface="Calibri" pitchFamily="34" charset="0"/>
                <a:ea typeface="Calibri" pitchFamily="34" charset="-122"/>
                <a:cs typeface="Calibri" pitchFamily="34" charset="-120"/>
              </a:rPr>
              <a:t>KPI cards were used (instead of the Power BI "KPI" visual) because the dataset has no target/goal values — using the KPI visual would have required fabricating targets, which was avoided for data integrity.</a:t>
            </a:r>
            <a:endParaRPr lang="en-US" sz="1100" dirty="0"/>
          </a:p>
        </p:txBody>
      </p:sp>
      <p:sp>
        <p:nvSpPr>
          <p:cNvPr id="23" name="Text 21"/>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24" name="Text 22"/>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Criterias Used</a:t>
            </a:r>
            <a:endParaRPr lang="en-US" sz="32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300" i="1" dirty="0">
                <a:solidFill>
                  <a:srgbClr val="E1F5EE"/>
                </a:solidFill>
                <a:latin typeface="Calibri" pitchFamily="34" charset="0"/>
                <a:ea typeface="Calibri" pitchFamily="34" charset="-122"/>
                <a:cs typeface="Calibri" pitchFamily="34" charset="-120"/>
              </a:rPr>
              <a:t>Key DAX measures written</a:t>
            </a:r>
            <a:endParaRPr lang="en-US" sz="1300" dirty="0"/>
          </a:p>
        </p:txBody>
      </p:sp>
      <p:sp>
        <p:nvSpPr>
          <p:cNvPr id="4" name="Shape 2"/>
          <p:cNvSpPr/>
          <p:nvPr/>
        </p:nvSpPr>
        <p:spPr>
          <a:xfrm>
            <a:off x="640080" y="1691640"/>
            <a:ext cx="10881360" cy="658368"/>
          </a:xfrm>
          <a:prstGeom prst="roundRect">
            <a:avLst>
              <a:gd name="adj" fmla="val 8333"/>
            </a:avLst>
          </a:prstGeom>
          <a:solidFill>
            <a:srgbClr val="0F6E56"/>
          </a:solidFill>
          <a:ln/>
        </p:spPr>
      </p:sp>
      <p:sp>
        <p:nvSpPr>
          <p:cNvPr id="5" name="Text 3"/>
          <p:cNvSpPr/>
          <p:nvPr/>
        </p:nvSpPr>
        <p:spPr>
          <a:xfrm>
            <a:off x="868680" y="174650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Total Revenue</a:t>
            </a:r>
            <a:endParaRPr lang="en-US" sz="1200" dirty="0"/>
          </a:p>
        </p:txBody>
      </p:sp>
      <p:sp>
        <p:nvSpPr>
          <p:cNvPr id="6" name="Text 4"/>
          <p:cNvSpPr/>
          <p:nvPr/>
        </p:nvSpPr>
        <p:spPr>
          <a:xfrm>
            <a:off x="868680" y="202082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SUM(Inventory_Transactions[Revenue])</a:t>
            </a:r>
            <a:endParaRPr lang="en-US" sz="1000" dirty="0"/>
          </a:p>
        </p:txBody>
      </p:sp>
      <p:sp>
        <p:nvSpPr>
          <p:cNvPr id="7" name="Shape 5"/>
          <p:cNvSpPr/>
          <p:nvPr/>
        </p:nvSpPr>
        <p:spPr>
          <a:xfrm>
            <a:off x="640080" y="2468880"/>
            <a:ext cx="10881360" cy="658368"/>
          </a:xfrm>
          <a:prstGeom prst="roundRect">
            <a:avLst>
              <a:gd name="adj" fmla="val 8333"/>
            </a:avLst>
          </a:prstGeom>
          <a:solidFill>
            <a:srgbClr val="0F6E56"/>
          </a:solidFill>
          <a:ln/>
        </p:spPr>
      </p:sp>
      <p:sp>
        <p:nvSpPr>
          <p:cNvPr id="8" name="Text 6"/>
          <p:cNvSpPr/>
          <p:nvPr/>
        </p:nvSpPr>
        <p:spPr>
          <a:xfrm>
            <a:off x="868680" y="252374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Total Orders</a:t>
            </a:r>
            <a:endParaRPr lang="en-US" sz="1200" dirty="0"/>
          </a:p>
        </p:txBody>
      </p:sp>
      <p:sp>
        <p:nvSpPr>
          <p:cNvPr id="9" name="Text 7"/>
          <p:cNvSpPr/>
          <p:nvPr/>
        </p:nvSpPr>
        <p:spPr>
          <a:xfrm>
            <a:off x="868680" y="279806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COUNT(Inventory_Transactions[Order_ID])</a:t>
            </a:r>
            <a:endParaRPr lang="en-US" sz="1000" dirty="0"/>
          </a:p>
        </p:txBody>
      </p:sp>
      <p:sp>
        <p:nvSpPr>
          <p:cNvPr id="10" name="Shape 8"/>
          <p:cNvSpPr/>
          <p:nvPr/>
        </p:nvSpPr>
        <p:spPr>
          <a:xfrm>
            <a:off x="640080" y="3246120"/>
            <a:ext cx="10881360" cy="658368"/>
          </a:xfrm>
          <a:prstGeom prst="roundRect">
            <a:avLst>
              <a:gd name="adj" fmla="val 8333"/>
            </a:avLst>
          </a:prstGeom>
          <a:solidFill>
            <a:srgbClr val="0F6E56"/>
          </a:solidFill>
          <a:ln/>
        </p:spPr>
      </p:sp>
      <p:sp>
        <p:nvSpPr>
          <p:cNvPr id="11" name="Text 9"/>
          <p:cNvSpPr/>
          <p:nvPr/>
        </p:nvSpPr>
        <p:spPr>
          <a:xfrm>
            <a:off x="868680" y="330098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Total Stock Value</a:t>
            </a:r>
            <a:endParaRPr lang="en-US" sz="1200" dirty="0"/>
          </a:p>
        </p:txBody>
      </p:sp>
      <p:sp>
        <p:nvSpPr>
          <p:cNvPr id="12" name="Text 10"/>
          <p:cNvSpPr/>
          <p:nvPr/>
        </p:nvSpPr>
        <p:spPr>
          <a:xfrm>
            <a:off x="868680" y="357530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SUM(Product_Master_List[Total_Stock_Value])</a:t>
            </a:r>
            <a:endParaRPr lang="en-US" sz="1000" dirty="0"/>
          </a:p>
        </p:txBody>
      </p:sp>
      <p:sp>
        <p:nvSpPr>
          <p:cNvPr id="13" name="Shape 11"/>
          <p:cNvSpPr/>
          <p:nvPr/>
        </p:nvSpPr>
        <p:spPr>
          <a:xfrm>
            <a:off x="640080" y="4023360"/>
            <a:ext cx="10881360" cy="658368"/>
          </a:xfrm>
          <a:prstGeom prst="roundRect">
            <a:avLst>
              <a:gd name="adj" fmla="val 8333"/>
            </a:avLst>
          </a:prstGeom>
          <a:solidFill>
            <a:srgbClr val="0F6E56"/>
          </a:solidFill>
          <a:ln/>
        </p:spPr>
      </p:sp>
      <p:sp>
        <p:nvSpPr>
          <p:cNvPr id="14" name="Text 12"/>
          <p:cNvSpPr/>
          <p:nvPr/>
        </p:nvSpPr>
        <p:spPr>
          <a:xfrm>
            <a:off x="868680" y="407822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High Risk %</a:t>
            </a:r>
            <a:endParaRPr lang="en-US" sz="1200" dirty="0"/>
          </a:p>
        </p:txBody>
      </p:sp>
      <p:sp>
        <p:nvSpPr>
          <p:cNvPr id="15" name="Text 13"/>
          <p:cNvSpPr/>
          <p:nvPr/>
        </p:nvSpPr>
        <p:spPr>
          <a:xfrm>
            <a:off x="868680" y="435254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DIVIDE([High Risk Orders], [Total Orders])</a:t>
            </a:r>
            <a:endParaRPr lang="en-US" sz="1000" dirty="0"/>
          </a:p>
        </p:txBody>
      </p:sp>
      <p:sp>
        <p:nvSpPr>
          <p:cNvPr id="16" name="Shape 14"/>
          <p:cNvSpPr/>
          <p:nvPr/>
        </p:nvSpPr>
        <p:spPr>
          <a:xfrm>
            <a:off x="640080" y="4800600"/>
            <a:ext cx="10881360" cy="658368"/>
          </a:xfrm>
          <a:prstGeom prst="roundRect">
            <a:avLst>
              <a:gd name="adj" fmla="val 8333"/>
            </a:avLst>
          </a:prstGeom>
          <a:solidFill>
            <a:srgbClr val="0F6E56"/>
          </a:solidFill>
          <a:ln/>
        </p:spPr>
      </p:sp>
      <p:sp>
        <p:nvSpPr>
          <p:cNvPr id="17" name="Text 15"/>
          <p:cNvSpPr/>
          <p:nvPr/>
        </p:nvSpPr>
        <p:spPr>
          <a:xfrm>
            <a:off x="868680" y="485546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Products Below Reorder Point</a:t>
            </a:r>
            <a:endParaRPr lang="en-US" sz="1200" dirty="0"/>
          </a:p>
        </p:txBody>
      </p:sp>
      <p:sp>
        <p:nvSpPr>
          <p:cNvPr id="18" name="Text 16"/>
          <p:cNvSpPr/>
          <p:nvPr/>
        </p:nvSpPr>
        <p:spPr>
          <a:xfrm>
            <a:off x="868680" y="512978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CALCULATE(DISTINCTCOUNT(SKU), Stock_Level &lt; Reorder_Point)</a:t>
            </a:r>
            <a:endParaRPr lang="en-US" sz="1000" dirty="0"/>
          </a:p>
        </p:txBody>
      </p:sp>
      <p:sp>
        <p:nvSpPr>
          <p:cNvPr id="19" name="Shape 17"/>
          <p:cNvSpPr/>
          <p:nvPr/>
        </p:nvSpPr>
        <p:spPr>
          <a:xfrm>
            <a:off x="640080" y="5577840"/>
            <a:ext cx="10881360" cy="658368"/>
          </a:xfrm>
          <a:prstGeom prst="roundRect">
            <a:avLst>
              <a:gd name="adj" fmla="val 8333"/>
            </a:avLst>
          </a:prstGeom>
          <a:solidFill>
            <a:srgbClr val="0F6E56"/>
          </a:solidFill>
          <a:ln/>
        </p:spPr>
      </p:sp>
      <p:sp>
        <p:nvSpPr>
          <p:cNvPr id="20" name="Text 18"/>
          <p:cNvSpPr/>
          <p:nvPr/>
        </p:nvSpPr>
        <p:spPr>
          <a:xfrm>
            <a:off x="868680" y="5632704"/>
            <a:ext cx="3291840" cy="274320"/>
          </a:xfrm>
          <a:prstGeom prst="rect">
            <a:avLst/>
          </a:prstGeom>
          <a:noFill/>
          <a:ln/>
        </p:spPr>
        <p:txBody>
          <a:bodyPr wrap="square" rtlCol="0" anchor="ctr"/>
          <a:lstStyle/>
          <a:p>
            <a:pPr marL="0" indent="0">
              <a:buNone/>
            </a:pPr>
            <a:r>
              <a:rPr lang="en-US" sz="1200" b="1" dirty="0">
                <a:solidFill>
                  <a:srgbClr val="5DCAA5"/>
                </a:solidFill>
                <a:latin typeface="Calibri" pitchFamily="34" charset="0"/>
                <a:ea typeface="Calibri" pitchFamily="34" charset="-122"/>
                <a:cs typeface="Calibri" pitchFamily="34" charset="-120"/>
              </a:rPr>
              <a:t>Inventory Status (column)</a:t>
            </a:r>
            <a:endParaRPr lang="en-US" sz="1200" dirty="0"/>
          </a:p>
        </p:txBody>
      </p:sp>
      <p:sp>
        <p:nvSpPr>
          <p:cNvPr id="21" name="Text 19"/>
          <p:cNvSpPr/>
          <p:nvPr/>
        </p:nvSpPr>
        <p:spPr>
          <a:xfrm>
            <a:off x="868680" y="5907024"/>
            <a:ext cx="10424160" cy="292608"/>
          </a:xfrm>
          <a:prstGeom prst="rect">
            <a:avLst/>
          </a:prstGeom>
          <a:noFill/>
          <a:ln/>
        </p:spPr>
        <p:txBody>
          <a:bodyPr wrap="square" rtlCol="0" anchor="ctr"/>
          <a:lstStyle/>
          <a:p>
            <a:pPr marL="0" indent="0">
              <a:buNone/>
            </a:pPr>
            <a:r>
              <a:rPr lang="en-US" sz="1000" dirty="0">
                <a:solidFill>
                  <a:srgbClr val="FFFFFF"/>
                </a:solidFill>
                <a:latin typeface="Courier New" pitchFamily="34" charset="0"/>
                <a:ea typeface="Courier New" pitchFamily="34" charset="-122"/>
                <a:cs typeface="Courier New" pitchFamily="34" charset="-120"/>
              </a:rPr>
              <a:t>IF(Stock_Level &lt; Reorder_Point, "Need Reorder", "Healthy Stock")</a:t>
            </a:r>
            <a:endParaRPr lang="en-US" sz="1000" dirty="0"/>
          </a:p>
        </p:txBody>
      </p:sp>
      <p:sp>
        <p:nvSpPr>
          <p:cNvPr id="22" name="Text 20"/>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Dashboard</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Landing page</a:t>
            </a:r>
            <a:endParaRPr lang="en-US" sz="1300" dirty="0"/>
          </a:p>
        </p:txBody>
      </p:sp>
      <p:pic>
        <p:nvPicPr>
          <p:cNvPr id="4" name="Image 0" descr="/home/claude/imgs/landing.png"/>
          <p:cNvPicPr>
            <a:picLocks noChangeAspect="1"/>
          </p:cNvPicPr>
          <p:nvPr/>
        </p:nvPicPr>
        <p:blipFill>
          <a:blip r:embed="rId3"/>
          <a:srcRect/>
          <a:stretch/>
        </p:blipFill>
        <p:spPr>
          <a:xfrm>
            <a:off x="1737360" y="1417320"/>
            <a:ext cx="8686800" cy="5001768"/>
          </a:xfrm>
          <a:prstGeom prst="rect">
            <a:avLst/>
          </a:prstGeom>
        </p:spPr>
      </p:pic>
      <p:sp>
        <p:nvSpPr>
          <p:cNvPr id="5"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6" name="Text 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Dashboard</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Overview page</a:t>
            </a:r>
            <a:endParaRPr lang="en-US" sz="1300" dirty="0"/>
          </a:p>
        </p:txBody>
      </p:sp>
      <p:pic>
        <p:nvPicPr>
          <p:cNvPr id="4" name="Image 0" descr="/home/claude/imgs/page1.png"/>
          <p:cNvPicPr>
            <a:picLocks noChangeAspect="1"/>
          </p:cNvPicPr>
          <p:nvPr/>
        </p:nvPicPr>
        <p:blipFill>
          <a:blip r:embed="rId3"/>
          <a:srcRect/>
          <a:stretch/>
        </p:blipFill>
        <p:spPr>
          <a:xfrm>
            <a:off x="548640" y="1417320"/>
            <a:ext cx="11064240" cy="5001768"/>
          </a:xfrm>
          <a:prstGeom prst="rect">
            <a:avLst/>
          </a:prstGeom>
        </p:spPr>
      </p:pic>
      <p:sp>
        <p:nvSpPr>
          <p:cNvPr id="5"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6" name="Text 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Dashboard</a:t>
            </a:r>
            <a:endParaRPr lang="en-US" sz="3200" dirty="0"/>
          </a:p>
        </p:txBody>
      </p:sp>
      <p:sp>
        <p:nvSpPr>
          <p:cNvPr id="3" name="Text 1"/>
          <p:cNvSpPr/>
          <p:nvPr/>
        </p:nvSpPr>
        <p:spPr>
          <a:xfrm>
            <a:off x="640080" y="1051560"/>
            <a:ext cx="10881360" cy="365760"/>
          </a:xfrm>
          <a:prstGeom prst="rect">
            <a:avLst/>
          </a:prstGeom>
          <a:noFill/>
          <a:ln/>
        </p:spPr>
        <p:txBody>
          <a:bodyPr wrap="square" rtlCol="0" anchor="ctr"/>
          <a:lstStyle/>
          <a:p>
            <a:pPr marL="0" indent="0">
              <a:buNone/>
            </a:pPr>
            <a:r>
              <a:rPr lang="en-US" sz="1300" i="1" dirty="0">
                <a:solidFill>
                  <a:srgbClr val="5F5E5A"/>
                </a:solidFill>
                <a:latin typeface="Calibri" pitchFamily="34" charset="0"/>
                <a:ea typeface="Calibri" pitchFamily="34" charset="-122"/>
                <a:cs typeface="Calibri" pitchFamily="34" charset="-120"/>
              </a:rPr>
              <a:t>Insights &amp; recommendations page</a:t>
            </a:r>
            <a:endParaRPr lang="en-US" sz="1300" dirty="0"/>
          </a:p>
        </p:txBody>
      </p:sp>
      <p:pic>
        <p:nvPicPr>
          <p:cNvPr id="4" name="Image 0" descr="/home/claude/imgs/page3.png"/>
          <p:cNvPicPr>
            <a:picLocks noChangeAspect="1"/>
          </p:cNvPicPr>
          <p:nvPr/>
        </p:nvPicPr>
        <p:blipFill>
          <a:blip r:embed="rId3"/>
          <a:srcRect/>
          <a:stretch/>
        </p:blipFill>
        <p:spPr>
          <a:xfrm>
            <a:off x="548640" y="1417320"/>
            <a:ext cx="11064240" cy="5001768"/>
          </a:xfrm>
          <a:prstGeom prst="rect">
            <a:avLst/>
          </a:prstGeom>
        </p:spPr>
      </p:pic>
      <p:sp>
        <p:nvSpPr>
          <p:cNvPr id="5" name="Text 2"/>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6" name="Text 3"/>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640080" y="1463040"/>
            <a:ext cx="365760" cy="365760"/>
          </a:xfrm>
          <a:prstGeom prst="ellipse">
            <a:avLst/>
          </a:prstGeom>
          <a:solidFill>
            <a:srgbClr val="E1F5EE"/>
          </a:solidFill>
          <a:ln/>
        </p:spPr>
      </p:sp>
      <p:sp>
        <p:nvSpPr>
          <p:cNvPr id="4" name="Text 2"/>
          <p:cNvSpPr/>
          <p:nvPr/>
        </p:nvSpPr>
        <p:spPr>
          <a:xfrm>
            <a:off x="640080" y="1463040"/>
            <a:ext cx="365760" cy="365760"/>
          </a:xfrm>
          <a:prstGeom prst="rect">
            <a:avLst/>
          </a:prstGeom>
          <a:noFill/>
          <a:ln/>
        </p:spPr>
        <p:txBody>
          <a:bodyPr wrap="square" rtlCol="0" anchor="ctr"/>
          <a:lstStyle/>
          <a:p>
            <a:pPr marL="0" indent="0" algn="ctr">
              <a:buNone/>
            </a:pPr>
            <a:r>
              <a:rPr lang="en-US" sz="1400" b="1" dirty="0">
                <a:solidFill>
                  <a:srgbClr val="085041"/>
                </a:solidFill>
                <a:latin typeface="Cambria" pitchFamily="34" charset="0"/>
                <a:ea typeface="Cambria" pitchFamily="34" charset="-122"/>
                <a:cs typeface="Cambria" pitchFamily="34" charset="-120"/>
              </a:rPr>
              <a:t>1</a:t>
            </a:r>
            <a:endParaRPr lang="en-US" sz="1400" dirty="0"/>
          </a:p>
        </p:txBody>
      </p:sp>
      <p:sp>
        <p:nvSpPr>
          <p:cNvPr id="5" name="Text 3"/>
          <p:cNvSpPr/>
          <p:nvPr/>
        </p:nvSpPr>
        <p:spPr>
          <a:xfrm>
            <a:off x="1188720" y="1389888"/>
            <a:ext cx="10332720" cy="777240"/>
          </a:xfrm>
          <a:prstGeom prst="rect">
            <a:avLst/>
          </a:prstGeom>
          <a:noFill/>
          <a:ln/>
        </p:spPr>
        <p:txBody>
          <a:bodyPr wrap="square" rtlCol="0" anchor="ctr"/>
          <a:lstStyle/>
          <a:p>
            <a:pPr marL="0" indent="0">
              <a:lnSpc>
                <a:spcPct val="125000"/>
              </a:lnSpc>
              <a:buNone/>
            </a:pPr>
            <a:r>
              <a:rPr lang="en-US" sz="1300" dirty="0">
                <a:solidFill>
                  <a:srgbClr val="2C2C2A"/>
                </a:solidFill>
                <a:latin typeface="Calibri" pitchFamily="34" charset="0"/>
                <a:ea typeface="Calibri" pitchFamily="34" charset="-122"/>
                <a:cs typeface="Calibri" pitchFamily="34" charset="-120"/>
              </a:rPr>
              <a:t>Surgical products drive 62.75% of total revenue but are also flagged for reorder — the business's top revenue source carries meaningful risk.</a:t>
            </a:r>
            <a:endParaRPr lang="en-US" sz="1300" dirty="0"/>
          </a:p>
        </p:txBody>
      </p:sp>
      <p:sp>
        <p:nvSpPr>
          <p:cNvPr id="6" name="Shape 4"/>
          <p:cNvSpPr/>
          <p:nvPr/>
        </p:nvSpPr>
        <p:spPr>
          <a:xfrm>
            <a:off x="640080" y="2423160"/>
            <a:ext cx="365760" cy="365760"/>
          </a:xfrm>
          <a:prstGeom prst="ellipse">
            <a:avLst/>
          </a:prstGeom>
          <a:solidFill>
            <a:srgbClr val="E1F5EE"/>
          </a:solidFill>
          <a:ln/>
        </p:spPr>
      </p:sp>
      <p:sp>
        <p:nvSpPr>
          <p:cNvPr id="7" name="Text 5"/>
          <p:cNvSpPr/>
          <p:nvPr/>
        </p:nvSpPr>
        <p:spPr>
          <a:xfrm>
            <a:off x="640080" y="2423160"/>
            <a:ext cx="365760" cy="365760"/>
          </a:xfrm>
          <a:prstGeom prst="rect">
            <a:avLst/>
          </a:prstGeom>
          <a:noFill/>
          <a:ln/>
        </p:spPr>
        <p:txBody>
          <a:bodyPr wrap="square" rtlCol="0" anchor="ctr"/>
          <a:lstStyle/>
          <a:p>
            <a:pPr marL="0" indent="0" algn="ctr">
              <a:buNone/>
            </a:pPr>
            <a:r>
              <a:rPr lang="en-US" sz="1400" b="1" dirty="0">
                <a:solidFill>
                  <a:srgbClr val="085041"/>
                </a:solidFill>
                <a:latin typeface="Cambria" pitchFamily="34" charset="0"/>
                <a:ea typeface="Cambria" pitchFamily="34" charset="-122"/>
                <a:cs typeface="Cambria" pitchFamily="34" charset="-120"/>
              </a:rPr>
              <a:t>2</a:t>
            </a:r>
            <a:endParaRPr lang="en-US" sz="1400" dirty="0"/>
          </a:p>
        </p:txBody>
      </p:sp>
      <p:sp>
        <p:nvSpPr>
          <p:cNvPr id="8" name="Text 6"/>
          <p:cNvSpPr/>
          <p:nvPr/>
        </p:nvSpPr>
        <p:spPr>
          <a:xfrm>
            <a:off x="1188720" y="2350008"/>
            <a:ext cx="10332720" cy="777240"/>
          </a:xfrm>
          <a:prstGeom prst="rect">
            <a:avLst/>
          </a:prstGeom>
          <a:noFill/>
          <a:ln/>
        </p:spPr>
        <p:txBody>
          <a:bodyPr wrap="square" rtlCol="0" anchor="ctr"/>
          <a:lstStyle/>
          <a:p>
            <a:pPr marL="0" indent="0">
              <a:lnSpc>
                <a:spcPct val="125000"/>
              </a:lnSpc>
              <a:buNone/>
            </a:pPr>
            <a:r>
              <a:rPr lang="en-US" sz="1300" dirty="0">
                <a:solidFill>
                  <a:srgbClr val="2C2C2A"/>
                </a:solidFill>
                <a:latin typeface="Calibri" pitchFamily="34" charset="0"/>
                <a:ea typeface="Calibri" pitchFamily="34" charset="-122"/>
                <a:cs typeface="Calibri" pitchFamily="34" charset="-120"/>
              </a:rPr>
              <a:t>4 of 7 SKUs (57%) are currently below their reorder threshold; one SKU is overstocked by 400 units.</a:t>
            </a:r>
            <a:endParaRPr lang="en-US" sz="1300" dirty="0"/>
          </a:p>
        </p:txBody>
      </p:sp>
      <p:sp>
        <p:nvSpPr>
          <p:cNvPr id="9" name="Shape 7"/>
          <p:cNvSpPr/>
          <p:nvPr/>
        </p:nvSpPr>
        <p:spPr>
          <a:xfrm>
            <a:off x="640080" y="3383280"/>
            <a:ext cx="365760" cy="365760"/>
          </a:xfrm>
          <a:prstGeom prst="ellipse">
            <a:avLst/>
          </a:prstGeom>
          <a:solidFill>
            <a:srgbClr val="E1F5EE"/>
          </a:solidFill>
          <a:ln/>
        </p:spPr>
      </p:sp>
      <p:sp>
        <p:nvSpPr>
          <p:cNvPr id="10" name="Text 8"/>
          <p:cNvSpPr/>
          <p:nvPr/>
        </p:nvSpPr>
        <p:spPr>
          <a:xfrm>
            <a:off x="640080" y="3383280"/>
            <a:ext cx="365760" cy="365760"/>
          </a:xfrm>
          <a:prstGeom prst="rect">
            <a:avLst/>
          </a:prstGeom>
          <a:noFill/>
          <a:ln/>
        </p:spPr>
        <p:txBody>
          <a:bodyPr wrap="square" rtlCol="0" anchor="ctr"/>
          <a:lstStyle/>
          <a:p>
            <a:pPr marL="0" indent="0" algn="ctr">
              <a:buNone/>
            </a:pPr>
            <a:r>
              <a:rPr lang="en-US" sz="1400" b="1" dirty="0">
                <a:solidFill>
                  <a:srgbClr val="085041"/>
                </a:solidFill>
                <a:latin typeface="Cambria" pitchFamily="34" charset="0"/>
                <a:ea typeface="Cambria" pitchFamily="34" charset="-122"/>
                <a:cs typeface="Cambria" pitchFamily="34" charset="-120"/>
              </a:rPr>
              <a:t>3</a:t>
            </a:r>
            <a:endParaRPr lang="en-US" sz="1400" dirty="0"/>
          </a:p>
        </p:txBody>
      </p:sp>
      <p:sp>
        <p:nvSpPr>
          <p:cNvPr id="11" name="Text 9"/>
          <p:cNvSpPr/>
          <p:nvPr/>
        </p:nvSpPr>
        <p:spPr>
          <a:xfrm>
            <a:off x="1188720" y="3310128"/>
            <a:ext cx="10332720" cy="777240"/>
          </a:xfrm>
          <a:prstGeom prst="rect">
            <a:avLst/>
          </a:prstGeom>
          <a:noFill/>
          <a:ln/>
        </p:spPr>
        <p:txBody>
          <a:bodyPr wrap="square" rtlCol="0" anchor="ctr"/>
          <a:lstStyle/>
          <a:p>
            <a:pPr marL="0" indent="0">
              <a:lnSpc>
                <a:spcPct val="125000"/>
              </a:lnSpc>
              <a:buNone/>
            </a:pPr>
            <a:r>
              <a:rPr lang="en-US" sz="1300" dirty="0">
                <a:solidFill>
                  <a:srgbClr val="2C2C2A"/>
                </a:solidFill>
                <a:latin typeface="Calibri" pitchFamily="34" charset="0"/>
                <a:ea typeface="Calibri" pitchFamily="34" charset="-122"/>
                <a:cs typeface="Calibri" pitchFamily="34" charset="-120"/>
              </a:rPr>
              <a:t>High Risk orders average 45-day supplier lead times — 4x longer than Low Risk orders — confirming a direct link between delay and risk.</a:t>
            </a:r>
            <a:endParaRPr lang="en-US" sz="1300" dirty="0"/>
          </a:p>
        </p:txBody>
      </p:sp>
      <p:sp>
        <p:nvSpPr>
          <p:cNvPr id="12" name="Shape 10"/>
          <p:cNvSpPr/>
          <p:nvPr/>
        </p:nvSpPr>
        <p:spPr>
          <a:xfrm>
            <a:off x="640080" y="4343400"/>
            <a:ext cx="365760" cy="365760"/>
          </a:xfrm>
          <a:prstGeom prst="ellipse">
            <a:avLst/>
          </a:prstGeom>
          <a:solidFill>
            <a:srgbClr val="E1F5EE"/>
          </a:solidFill>
          <a:ln/>
        </p:spPr>
      </p:sp>
      <p:sp>
        <p:nvSpPr>
          <p:cNvPr id="13" name="Text 11"/>
          <p:cNvSpPr/>
          <p:nvPr/>
        </p:nvSpPr>
        <p:spPr>
          <a:xfrm>
            <a:off x="640080" y="4343400"/>
            <a:ext cx="365760" cy="365760"/>
          </a:xfrm>
          <a:prstGeom prst="rect">
            <a:avLst/>
          </a:prstGeom>
          <a:noFill/>
          <a:ln/>
        </p:spPr>
        <p:txBody>
          <a:bodyPr wrap="square" rtlCol="0" anchor="ctr"/>
          <a:lstStyle/>
          <a:p>
            <a:pPr marL="0" indent="0" algn="ctr">
              <a:buNone/>
            </a:pPr>
            <a:r>
              <a:rPr lang="en-US" sz="1400" b="1" dirty="0">
                <a:solidFill>
                  <a:srgbClr val="085041"/>
                </a:solidFill>
                <a:latin typeface="Cambria" pitchFamily="34" charset="0"/>
                <a:ea typeface="Cambria" pitchFamily="34" charset="-122"/>
                <a:cs typeface="Cambria" pitchFamily="34" charset="-120"/>
              </a:rPr>
              <a:t>4</a:t>
            </a:r>
            <a:endParaRPr lang="en-US" sz="1400" dirty="0"/>
          </a:p>
        </p:txBody>
      </p:sp>
      <p:sp>
        <p:nvSpPr>
          <p:cNvPr id="14" name="Text 12"/>
          <p:cNvSpPr/>
          <p:nvPr/>
        </p:nvSpPr>
        <p:spPr>
          <a:xfrm>
            <a:off x="1188720" y="4270248"/>
            <a:ext cx="10332720" cy="777240"/>
          </a:xfrm>
          <a:prstGeom prst="rect">
            <a:avLst/>
          </a:prstGeom>
          <a:noFill/>
          <a:ln/>
        </p:spPr>
        <p:txBody>
          <a:bodyPr wrap="square" rtlCol="0" anchor="ctr"/>
          <a:lstStyle/>
          <a:p>
            <a:pPr marL="0" indent="0">
              <a:lnSpc>
                <a:spcPct val="125000"/>
              </a:lnSpc>
              <a:buNone/>
            </a:pPr>
            <a:r>
              <a:rPr lang="en-US" sz="1300" dirty="0">
                <a:solidFill>
                  <a:srgbClr val="2C2C2A"/>
                </a:solidFill>
                <a:latin typeface="Calibri" pitchFamily="34" charset="0"/>
                <a:ea typeface="Calibri" pitchFamily="34" charset="-122"/>
                <a:cs typeface="Calibri" pitchFamily="34" charset="-120"/>
              </a:rPr>
              <a:t>Revenue shows mild seasonality, peaking in April and dipping in August, with fairly balanced performance across all four regions.</a:t>
            </a:r>
            <a:endParaRPr lang="en-US" sz="1300" dirty="0"/>
          </a:p>
        </p:txBody>
      </p:sp>
      <p:sp>
        <p:nvSpPr>
          <p:cNvPr id="15" name="Text 13"/>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16" name="Text 14"/>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85041"/>
        </a:solidFill>
        <a:effectLst/>
      </p:bgPr>
    </p:bg>
    <p:spTree>
      <p:nvGrpSpPr>
        <p:cNvPr id="1" name=""/>
        <p:cNvGrpSpPr/>
        <p:nvPr/>
      </p:nvGrpSpPr>
      <p:grpSpPr>
        <a:xfrm>
          <a:off x="0" y="0"/>
          <a:ext cx="0" cy="0"/>
          <a:chOff x="0" y="0"/>
          <a:chExt cx="0" cy="0"/>
        </a:xfrm>
      </p:grpSpPr>
      <p:sp>
        <p:nvSpPr>
          <p:cNvPr id="2" name="Text 0"/>
          <p:cNvSpPr/>
          <p:nvPr/>
        </p:nvSpPr>
        <p:spPr>
          <a:xfrm>
            <a:off x="640080" y="502920"/>
            <a:ext cx="10881360" cy="640080"/>
          </a:xfrm>
          <a:prstGeom prst="rect">
            <a:avLst/>
          </a:prstGeom>
          <a:noFill/>
          <a:ln/>
        </p:spPr>
        <p:txBody>
          <a:bodyPr wrap="square"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Suggestions</a:t>
            </a:r>
            <a:endParaRPr lang="en-US" sz="3200" dirty="0"/>
          </a:p>
        </p:txBody>
      </p:sp>
      <p:sp>
        <p:nvSpPr>
          <p:cNvPr id="3" name="Text 1"/>
          <p:cNvSpPr/>
          <p:nvPr/>
        </p:nvSpPr>
        <p:spPr>
          <a:xfrm>
            <a:off x="640080" y="1097280"/>
            <a:ext cx="10881360" cy="365760"/>
          </a:xfrm>
          <a:prstGeom prst="rect">
            <a:avLst/>
          </a:prstGeom>
          <a:noFill/>
          <a:ln/>
        </p:spPr>
        <p:txBody>
          <a:bodyPr wrap="square" rtlCol="0" anchor="ctr"/>
          <a:lstStyle/>
          <a:p>
            <a:pPr marL="0" indent="0">
              <a:buNone/>
            </a:pPr>
            <a:r>
              <a:rPr lang="en-US" sz="1300" i="1" dirty="0">
                <a:solidFill>
                  <a:srgbClr val="E1F5EE"/>
                </a:solidFill>
                <a:latin typeface="Calibri" pitchFamily="34" charset="0"/>
                <a:ea typeface="Calibri" pitchFamily="34" charset="-122"/>
                <a:cs typeface="Calibri" pitchFamily="34" charset="-120"/>
              </a:rPr>
              <a:t>What the business should do next</a:t>
            </a:r>
            <a:endParaRPr lang="en-US" sz="1300" dirty="0"/>
          </a:p>
        </p:txBody>
      </p:sp>
      <p:sp>
        <p:nvSpPr>
          <p:cNvPr id="4" name="Shape 2"/>
          <p:cNvSpPr/>
          <p:nvPr/>
        </p:nvSpPr>
        <p:spPr>
          <a:xfrm>
            <a:off x="640080" y="1828800"/>
            <a:ext cx="384048" cy="384048"/>
          </a:xfrm>
          <a:prstGeom prst="ellipse">
            <a:avLst/>
          </a:prstGeom>
          <a:solidFill>
            <a:srgbClr val="5DCAA5"/>
          </a:solidFill>
          <a:ln/>
        </p:spPr>
      </p:sp>
      <p:sp>
        <p:nvSpPr>
          <p:cNvPr id="5" name="Text 3"/>
          <p:cNvSpPr/>
          <p:nvPr/>
        </p:nvSpPr>
        <p:spPr>
          <a:xfrm>
            <a:off x="640080" y="1828800"/>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1</a:t>
            </a:r>
            <a:endParaRPr lang="en-US" sz="1500" dirty="0"/>
          </a:p>
        </p:txBody>
      </p:sp>
      <p:sp>
        <p:nvSpPr>
          <p:cNvPr id="6" name="Text 4"/>
          <p:cNvSpPr/>
          <p:nvPr/>
        </p:nvSpPr>
        <p:spPr>
          <a:xfrm>
            <a:off x="1234440" y="1810512"/>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Secure Surgical supply first — it's both the top revenue driver and the highest-risk category.</a:t>
            </a:r>
            <a:endParaRPr lang="en-US" sz="1350" dirty="0"/>
          </a:p>
        </p:txBody>
      </p:sp>
      <p:sp>
        <p:nvSpPr>
          <p:cNvPr id="7" name="Shape 5"/>
          <p:cNvSpPr/>
          <p:nvPr/>
        </p:nvSpPr>
        <p:spPr>
          <a:xfrm>
            <a:off x="640080" y="2487168"/>
            <a:ext cx="384048" cy="384048"/>
          </a:xfrm>
          <a:prstGeom prst="ellipse">
            <a:avLst/>
          </a:prstGeom>
          <a:solidFill>
            <a:srgbClr val="5DCAA5"/>
          </a:solidFill>
          <a:ln/>
        </p:spPr>
      </p:sp>
      <p:sp>
        <p:nvSpPr>
          <p:cNvPr id="8" name="Text 6"/>
          <p:cNvSpPr/>
          <p:nvPr/>
        </p:nvSpPr>
        <p:spPr>
          <a:xfrm>
            <a:off x="640080" y="2487168"/>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2</a:t>
            </a:r>
            <a:endParaRPr lang="en-US" sz="1500" dirty="0"/>
          </a:p>
        </p:txBody>
      </p:sp>
      <p:sp>
        <p:nvSpPr>
          <p:cNvPr id="9" name="Text 7"/>
          <p:cNvSpPr/>
          <p:nvPr/>
        </p:nvSpPr>
        <p:spPr>
          <a:xfrm>
            <a:off x="1234440" y="2468880"/>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Reorder the 4 below-threshold SKUs, prioritized by shortfall size.</a:t>
            </a:r>
            <a:endParaRPr lang="en-US" sz="1350" dirty="0"/>
          </a:p>
        </p:txBody>
      </p:sp>
      <p:sp>
        <p:nvSpPr>
          <p:cNvPr id="10" name="Shape 8"/>
          <p:cNvSpPr/>
          <p:nvPr/>
        </p:nvSpPr>
        <p:spPr>
          <a:xfrm>
            <a:off x="640080" y="3145536"/>
            <a:ext cx="384048" cy="384048"/>
          </a:xfrm>
          <a:prstGeom prst="ellipse">
            <a:avLst/>
          </a:prstGeom>
          <a:solidFill>
            <a:srgbClr val="5DCAA5"/>
          </a:solidFill>
          <a:ln/>
        </p:spPr>
      </p:sp>
      <p:sp>
        <p:nvSpPr>
          <p:cNvPr id="11" name="Text 9"/>
          <p:cNvSpPr/>
          <p:nvPr/>
        </p:nvSpPr>
        <p:spPr>
          <a:xfrm>
            <a:off x="640080" y="3145536"/>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3</a:t>
            </a:r>
            <a:endParaRPr lang="en-US" sz="1500" dirty="0"/>
          </a:p>
        </p:txBody>
      </p:sp>
      <p:sp>
        <p:nvSpPr>
          <p:cNvPr id="12" name="Text 10"/>
          <p:cNvSpPr/>
          <p:nvPr/>
        </p:nvSpPr>
        <p:spPr>
          <a:xfrm>
            <a:off x="1234440" y="3127248"/>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Reduce procurement for the overstocked SKU to free up tied-up working capital.</a:t>
            </a:r>
            <a:endParaRPr lang="en-US" sz="1350" dirty="0"/>
          </a:p>
        </p:txBody>
      </p:sp>
      <p:sp>
        <p:nvSpPr>
          <p:cNvPr id="13" name="Shape 11"/>
          <p:cNvSpPr/>
          <p:nvPr/>
        </p:nvSpPr>
        <p:spPr>
          <a:xfrm>
            <a:off x="640080" y="3803904"/>
            <a:ext cx="384048" cy="384048"/>
          </a:xfrm>
          <a:prstGeom prst="ellipse">
            <a:avLst/>
          </a:prstGeom>
          <a:solidFill>
            <a:srgbClr val="5DCAA5"/>
          </a:solidFill>
          <a:ln/>
        </p:spPr>
      </p:sp>
      <p:sp>
        <p:nvSpPr>
          <p:cNvPr id="14" name="Text 12"/>
          <p:cNvSpPr/>
          <p:nvPr/>
        </p:nvSpPr>
        <p:spPr>
          <a:xfrm>
            <a:off x="640080" y="3803904"/>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4</a:t>
            </a:r>
            <a:endParaRPr lang="en-US" sz="1500" dirty="0"/>
          </a:p>
        </p:txBody>
      </p:sp>
      <p:sp>
        <p:nvSpPr>
          <p:cNvPr id="15" name="Text 13"/>
          <p:cNvSpPr/>
          <p:nvPr/>
        </p:nvSpPr>
        <p:spPr>
          <a:xfrm>
            <a:off x="1234440" y="3785616"/>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Review suppliers with longer lead times — they correlate directly with higher risk.</a:t>
            </a:r>
            <a:endParaRPr lang="en-US" sz="1350" dirty="0"/>
          </a:p>
        </p:txBody>
      </p:sp>
      <p:sp>
        <p:nvSpPr>
          <p:cNvPr id="16" name="Shape 14"/>
          <p:cNvSpPr/>
          <p:nvPr/>
        </p:nvSpPr>
        <p:spPr>
          <a:xfrm>
            <a:off x="640080" y="4462272"/>
            <a:ext cx="384048" cy="384048"/>
          </a:xfrm>
          <a:prstGeom prst="ellipse">
            <a:avLst/>
          </a:prstGeom>
          <a:solidFill>
            <a:srgbClr val="5DCAA5"/>
          </a:solidFill>
          <a:ln/>
        </p:spPr>
      </p:sp>
      <p:sp>
        <p:nvSpPr>
          <p:cNvPr id="17" name="Text 15"/>
          <p:cNvSpPr/>
          <p:nvPr/>
        </p:nvSpPr>
        <p:spPr>
          <a:xfrm>
            <a:off x="640080" y="4462272"/>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5</a:t>
            </a:r>
            <a:endParaRPr lang="en-US" sz="1500" dirty="0"/>
          </a:p>
        </p:txBody>
      </p:sp>
      <p:sp>
        <p:nvSpPr>
          <p:cNvPr id="18" name="Text 16"/>
          <p:cNvSpPr/>
          <p:nvPr/>
        </p:nvSpPr>
        <p:spPr>
          <a:xfrm>
            <a:off x="1234440" y="4443984"/>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Build buffer stock ahead of April to meet the seasonal demand pattern.</a:t>
            </a:r>
            <a:endParaRPr lang="en-US" sz="1350" dirty="0"/>
          </a:p>
        </p:txBody>
      </p:sp>
      <p:sp>
        <p:nvSpPr>
          <p:cNvPr id="19" name="Shape 17"/>
          <p:cNvSpPr/>
          <p:nvPr/>
        </p:nvSpPr>
        <p:spPr>
          <a:xfrm>
            <a:off x="640080" y="5120640"/>
            <a:ext cx="384048" cy="384048"/>
          </a:xfrm>
          <a:prstGeom prst="ellipse">
            <a:avLst/>
          </a:prstGeom>
          <a:solidFill>
            <a:srgbClr val="5DCAA5"/>
          </a:solidFill>
          <a:ln/>
        </p:spPr>
      </p:sp>
      <p:sp>
        <p:nvSpPr>
          <p:cNvPr id="20" name="Text 18"/>
          <p:cNvSpPr/>
          <p:nvPr/>
        </p:nvSpPr>
        <p:spPr>
          <a:xfrm>
            <a:off x="640080" y="5120640"/>
            <a:ext cx="384048" cy="384048"/>
          </a:xfrm>
          <a:prstGeom prst="rect">
            <a:avLst/>
          </a:prstGeom>
          <a:noFill/>
          <a:ln/>
        </p:spPr>
        <p:txBody>
          <a:bodyPr wrap="square" rtlCol="0" anchor="ctr"/>
          <a:lstStyle/>
          <a:p>
            <a:pPr marL="0" indent="0" algn="ctr">
              <a:buNone/>
            </a:pPr>
            <a:r>
              <a:rPr lang="en-US" sz="1500" b="1" dirty="0">
                <a:solidFill>
                  <a:srgbClr val="085041"/>
                </a:solidFill>
                <a:latin typeface="Cambria" pitchFamily="34" charset="0"/>
                <a:ea typeface="Cambria" pitchFamily="34" charset="-122"/>
                <a:cs typeface="Cambria" pitchFamily="34" charset="-120"/>
              </a:rPr>
              <a:t>6</a:t>
            </a:r>
            <a:endParaRPr lang="en-US" sz="1500" dirty="0"/>
          </a:p>
        </p:txBody>
      </p:sp>
      <p:sp>
        <p:nvSpPr>
          <p:cNvPr id="21" name="Text 19"/>
          <p:cNvSpPr/>
          <p:nvPr/>
        </p:nvSpPr>
        <p:spPr>
          <a:xfrm>
            <a:off x="1234440" y="5102352"/>
            <a:ext cx="10149840" cy="438912"/>
          </a:xfrm>
          <a:prstGeom prst="rect">
            <a:avLst/>
          </a:prstGeom>
          <a:noFill/>
          <a:ln/>
        </p:spPr>
        <p:txBody>
          <a:bodyPr wrap="square" rtlCol="0" anchor="ctr"/>
          <a:lstStyle/>
          <a:p>
            <a:pPr marL="0" indent="0">
              <a:buNone/>
            </a:pPr>
            <a:r>
              <a:rPr lang="en-US" sz="1350" dirty="0">
                <a:solidFill>
                  <a:srgbClr val="FFFFFF"/>
                </a:solidFill>
                <a:latin typeface="Calibri" pitchFamily="34" charset="0"/>
                <a:ea typeface="Calibri" pitchFamily="34" charset="-122"/>
                <a:cs typeface="Calibri" pitchFamily="34" charset="-120"/>
              </a:rPr>
              <a:t>Monitor High Risk orders (1 in 7) proactively, not reactively.</a:t>
            </a:r>
            <a:endParaRPr lang="en-US" sz="1350" dirty="0"/>
          </a:p>
        </p:txBody>
      </p:sp>
      <p:sp>
        <p:nvSpPr>
          <p:cNvPr id="22" name="Text 20"/>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23" name="Text 21"/>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57200"/>
            <a:ext cx="10881360" cy="640080"/>
          </a:xfrm>
          <a:prstGeom prst="rect">
            <a:avLst/>
          </a:prstGeom>
          <a:noFill/>
          <a:ln/>
        </p:spPr>
        <p:txBody>
          <a:bodyPr wrap="square" rtlCol="0" anchor="ctr"/>
          <a:lstStyle/>
          <a:p>
            <a:pPr marL="0" indent="0">
              <a:buNone/>
            </a:pPr>
            <a:r>
              <a:rPr lang="en-US" sz="3200" b="1" dirty="0">
                <a:solidFill>
                  <a:srgbClr val="2C2C2A"/>
                </a:solidFill>
                <a:latin typeface="Cambria" pitchFamily="34" charset="0"/>
                <a:ea typeface="Cambria" pitchFamily="34" charset="-122"/>
                <a:cs typeface="Cambria" pitchFamily="34" charset="-120"/>
              </a:rPr>
              <a:t>References</a:t>
            </a:r>
            <a:endParaRPr lang="en-US" sz="3200" dirty="0"/>
          </a:p>
        </p:txBody>
      </p:sp>
      <p:sp>
        <p:nvSpPr>
          <p:cNvPr id="3" name="Shape 1"/>
          <p:cNvSpPr/>
          <p:nvPr/>
        </p:nvSpPr>
        <p:spPr>
          <a:xfrm>
            <a:off x="640080" y="1645920"/>
            <a:ext cx="10881360" cy="1188720"/>
          </a:xfrm>
          <a:prstGeom prst="roundRect">
            <a:avLst>
              <a:gd name="adj" fmla="val 6154"/>
            </a:avLst>
          </a:prstGeom>
          <a:solidFill>
            <a:srgbClr val="E1F5EE"/>
          </a:solidFill>
          <a:ln/>
        </p:spPr>
      </p:sp>
      <p:sp>
        <p:nvSpPr>
          <p:cNvPr id="4" name="Text 2"/>
          <p:cNvSpPr/>
          <p:nvPr/>
        </p:nvSpPr>
        <p:spPr>
          <a:xfrm>
            <a:off x="914400" y="1828800"/>
            <a:ext cx="4572000" cy="320040"/>
          </a:xfrm>
          <a:prstGeom prst="rect">
            <a:avLst/>
          </a:prstGeom>
          <a:noFill/>
          <a:ln/>
        </p:spPr>
        <p:txBody>
          <a:bodyPr wrap="square" rtlCol="0" anchor="ctr"/>
          <a:lstStyle/>
          <a:p>
            <a:pPr marL="0" indent="0">
              <a:buNone/>
            </a:pPr>
            <a:r>
              <a:rPr lang="en-US" sz="1300" b="1" dirty="0">
                <a:solidFill>
                  <a:srgbClr val="085041"/>
                </a:solidFill>
                <a:latin typeface="Calibri" pitchFamily="34" charset="0"/>
                <a:ea typeface="Calibri" pitchFamily="34" charset="-122"/>
                <a:cs typeface="Calibri" pitchFamily="34" charset="-120"/>
              </a:rPr>
              <a:t>Dataset source</a:t>
            </a:r>
            <a:endParaRPr lang="en-US" sz="1300" dirty="0"/>
          </a:p>
        </p:txBody>
      </p:sp>
      <p:sp>
        <p:nvSpPr>
          <p:cNvPr id="5" name="Text 3"/>
          <p:cNvSpPr/>
          <p:nvPr/>
        </p:nvSpPr>
        <p:spPr>
          <a:xfrm>
            <a:off x="914400" y="2194560"/>
            <a:ext cx="9144000" cy="320040"/>
          </a:xfrm>
          <a:prstGeom prst="rect">
            <a:avLst/>
          </a:prstGeom>
          <a:noFill/>
          <a:ln/>
        </p:spPr>
        <p:txBody>
          <a:bodyPr wrap="square" rtlCol="0" anchor="ctr"/>
          <a:lstStyle/>
          <a:p>
            <a:pPr marL="0" indent="0">
              <a:buNone/>
            </a:pPr>
            <a:r>
              <a:rPr lang="en-US" sz="1200" dirty="0">
                <a:solidFill>
                  <a:srgbClr val="2C2C2A"/>
                </a:solidFill>
                <a:latin typeface="Calibri" pitchFamily="34" charset="0"/>
                <a:ea typeface="Calibri" pitchFamily="34" charset="-122"/>
                <a:cs typeface="Calibri" pitchFamily="34" charset="-120"/>
              </a:rPr>
              <a:t>Kaggle — Medical Supply Chain and Inventory Risk Analysis</a:t>
            </a:r>
            <a:endParaRPr lang="en-US" sz="1200" dirty="0"/>
          </a:p>
        </p:txBody>
      </p:sp>
      <p:sp>
        <p:nvSpPr>
          <p:cNvPr id="6" name="Text 4"/>
          <p:cNvSpPr/>
          <p:nvPr/>
        </p:nvSpPr>
        <p:spPr>
          <a:xfrm>
            <a:off x="914400" y="2487168"/>
            <a:ext cx="9601200" cy="274320"/>
          </a:xfrm>
          <a:prstGeom prst="rect">
            <a:avLst/>
          </a:prstGeom>
          <a:noFill/>
          <a:ln/>
        </p:spPr>
        <p:txBody>
          <a:bodyPr wrap="square" rtlCol="0" anchor="ctr"/>
          <a:lstStyle/>
          <a:p>
            <a:pPr marL="0" indent="0">
              <a:buNone/>
            </a:pPr>
            <a:r>
              <a:rPr lang="en-US" sz="1050" dirty="0">
                <a:solidFill>
                  <a:srgbClr val="0F6E56"/>
                </a:solidFill>
                <a:latin typeface="Calibri" pitchFamily="34" charset="0"/>
                <a:ea typeface="Calibri" pitchFamily="34" charset="-122"/>
                <a:cs typeface="Calibri" pitchFamily="34" charset="-120"/>
              </a:rPr>
              <a:t>kaggle.com/datasets/nevinfritsch/medical-supply-chain-and-inventory-risk-analysis</a:t>
            </a:r>
            <a:endParaRPr lang="en-US" sz="1050" dirty="0"/>
          </a:p>
        </p:txBody>
      </p:sp>
      <p:sp>
        <p:nvSpPr>
          <p:cNvPr id="7" name="Shape 5"/>
          <p:cNvSpPr/>
          <p:nvPr/>
        </p:nvSpPr>
        <p:spPr>
          <a:xfrm>
            <a:off x="640080" y="3017520"/>
            <a:ext cx="10881360" cy="914400"/>
          </a:xfrm>
          <a:prstGeom prst="roundRect">
            <a:avLst>
              <a:gd name="adj" fmla="val 8000"/>
            </a:avLst>
          </a:prstGeom>
          <a:solidFill>
            <a:srgbClr val="E1F5EE"/>
          </a:solidFill>
          <a:ln/>
        </p:spPr>
      </p:sp>
      <p:sp>
        <p:nvSpPr>
          <p:cNvPr id="8" name="Text 6"/>
          <p:cNvSpPr/>
          <p:nvPr/>
        </p:nvSpPr>
        <p:spPr>
          <a:xfrm>
            <a:off x="914400" y="3200400"/>
            <a:ext cx="4572000" cy="320040"/>
          </a:xfrm>
          <a:prstGeom prst="rect">
            <a:avLst/>
          </a:prstGeom>
          <a:noFill/>
          <a:ln/>
        </p:spPr>
        <p:txBody>
          <a:bodyPr wrap="square" rtlCol="0" anchor="ctr"/>
          <a:lstStyle/>
          <a:p>
            <a:pPr marL="0" indent="0">
              <a:buNone/>
            </a:pPr>
            <a:r>
              <a:rPr lang="en-US" sz="1300" b="1" dirty="0">
                <a:solidFill>
                  <a:srgbClr val="085041"/>
                </a:solidFill>
                <a:latin typeface="Calibri" pitchFamily="34" charset="0"/>
                <a:ea typeface="Calibri" pitchFamily="34" charset="-122"/>
                <a:cs typeface="Calibri" pitchFamily="34" charset="-120"/>
              </a:rPr>
              <a:t>Visualization tool</a:t>
            </a:r>
            <a:endParaRPr lang="en-US" sz="1300" dirty="0"/>
          </a:p>
        </p:txBody>
      </p:sp>
      <p:sp>
        <p:nvSpPr>
          <p:cNvPr id="9" name="Text 7"/>
          <p:cNvSpPr/>
          <p:nvPr/>
        </p:nvSpPr>
        <p:spPr>
          <a:xfrm>
            <a:off x="914400" y="3547872"/>
            <a:ext cx="9144000" cy="292608"/>
          </a:xfrm>
          <a:prstGeom prst="rect">
            <a:avLst/>
          </a:prstGeom>
          <a:noFill/>
          <a:ln/>
        </p:spPr>
        <p:txBody>
          <a:bodyPr wrap="square" rtlCol="0" anchor="ctr"/>
          <a:lstStyle/>
          <a:p>
            <a:pPr marL="0" indent="0">
              <a:buNone/>
            </a:pPr>
            <a:r>
              <a:rPr lang="en-US" sz="1200" dirty="0">
                <a:solidFill>
                  <a:srgbClr val="2C2C2A"/>
                </a:solidFill>
                <a:latin typeface="Calibri" pitchFamily="34" charset="0"/>
                <a:ea typeface="Calibri" pitchFamily="34" charset="-122"/>
                <a:cs typeface="Calibri" pitchFamily="34" charset="-120"/>
              </a:rPr>
              <a:t>Microsoft Power BI Desktop</a:t>
            </a:r>
            <a:endParaRPr lang="en-US" sz="1200" dirty="0"/>
          </a:p>
        </p:txBody>
      </p:sp>
      <p:sp>
        <p:nvSpPr>
          <p:cNvPr id="10" name="Text 8"/>
          <p:cNvSpPr/>
          <p:nvPr/>
        </p:nvSpPr>
        <p:spPr>
          <a:xfrm>
            <a:off x="457200" y="6537960"/>
            <a:ext cx="7315200" cy="274320"/>
          </a:xfrm>
          <a:prstGeom prst="rect">
            <a:avLst/>
          </a:prstGeom>
          <a:noFill/>
          <a:ln/>
        </p:spPr>
        <p:txBody>
          <a:bodyPr wrap="square" rtlCol="0" anchor="ctr"/>
          <a:lstStyle/>
          <a:p>
            <a:pPr marL="0" indent="0">
              <a:buNone/>
            </a:pPr>
            <a:r>
              <a:rPr lang="en-US" sz="900" dirty="0">
                <a:solidFill>
                  <a:srgbClr val="5F5E5A"/>
                </a:solidFill>
                <a:latin typeface="Calibri" pitchFamily="34" charset="0"/>
                <a:ea typeface="Calibri" pitchFamily="34" charset="-122"/>
                <a:cs typeface="Calibri" pitchFamily="34" charset="-120"/>
              </a:rPr>
              <a:t>Medical Supply Chain: Inventory Risk &amp; Revenue Analysis</a:t>
            </a:r>
            <a:endParaRPr lang="en-US" sz="900" dirty="0"/>
          </a:p>
        </p:txBody>
      </p:sp>
      <p:sp>
        <p:nvSpPr>
          <p:cNvPr id="11" name="Text 9"/>
          <p:cNvSpPr/>
          <p:nvPr/>
        </p:nvSpPr>
        <p:spPr>
          <a:xfrm>
            <a:off x="11521440" y="6537960"/>
            <a:ext cx="365760" cy="274320"/>
          </a:xfrm>
          <a:prstGeom prst="rect">
            <a:avLst/>
          </a:prstGeom>
          <a:noFill/>
          <a:ln/>
        </p:spPr>
        <p:txBody>
          <a:bodyPr wrap="square" rtlCol="0" anchor="ctr"/>
          <a:lstStyle/>
          <a:p>
            <a:pPr marL="0" indent="0" algn="r">
              <a:buNone/>
            </a:pPr>
            <a:r>
              <a:rPr lang="en-US" sz="900" dirty="0">
                <a:solidFill>
                  <a:srgbClr val="5F5E5A"/>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85041"/>
        </a:solidFill>
        <a:effectLst/>
      </p:bgPr>
    </p:bg>
    <p:spTree>
      <p:nvGrpSpPr>
        <p:cNvPr id="1" name=""/>
        <p:cNvGrpSpPr/>
        <p:nvPr/>
      </p:nvGrpSpPr>
      <p:grpSpPr>
        <a:xfrm>
          <a:off x="0" y="0"/>
          <a:ext cx="0" cy="0"/>
          <a:chOff x="0" y="0"/>
          <a:chExt cx="0" cy="0"/>
        </a:xfrm>
      </p:grpSpPr>
      <p:sp>
        <p:nvSpPr>
          <p:cNvPr id="2" name="Shape 0"/>
          <p:cNvSpPr/>
          <p:nvPr/>
        </p:nvSpPr>
        <p:spPr>
          <a:xfrm>
            <a:off x="9692640" y="-1645920"/>
            <a:ext cx="4572000" cy="4572000"/>
          </a:xfrm>
          <a:prstGeom prst="ellipse">
            <a:avLst/>
          </a:prstGeom>
          <a:solidFill>
            <a:srgbClr val="0F6E56">
              <a:alpha val="40000"/>
            </a:srgbClr>
          </a:solidFill>
          <a:ln/>
        </p:spPr>
      </p:sp>
      <p:sp>
        <p:nvSpPr>
          <p:cNvPr id="3" name="Shape 1"/>
          <p:cNvSpPr/>
          <p:nvPr/>
        </p:nvSpPr>
        <p:spPr>
          <a:xfrm>
            <a:off x="-1371600" y="4754880"/>
            <a:ext cx="3657600" cy="3657600"/>
          </a:xfrm>
          <a:prstGeom prst="ellipse">
            <a:avLst/>
          </a:prstGeom>
          <a:solidFill>
            <a:srgbClr val="0F6E56">
              <a:alpha val="40000"/>
            </a:srgbClr>
          </a:solidFill>
          <a:ln/>
        </p:spPr>
      </p:sp>
      <p:sp>
        <p:nvSpPr>
          <p:cNvPr id="4" name="Text 2"/>
          <p:cNvSpPr/>
          <p:nvPr/>
        </p:nvSpPr>
        <p:spPr>
          <a:xfrm>
            <a:off x="822960" y="2743200"/>
            <a:ext cx="10515600" cy="1097280"/>
          </a:xfrm>
          <a:prstGeom prst="rect">
            <a:avLst/>
          </a:prstGeom>
          <a:noFill/>
          <a:ln/>
        </p:spPr>
        <p:txBody>
          <a:bodyPr wrap="square"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Thank you</a:t>
            </a:r>
            <a:endParaRPr lang="en-US" sz="4800" dirty="0"/>
          </a:p>
        </p:txBody>
      </p:sp>
      <p:sp>
        <p:nvSpPr>
          <p:cNvPr id="5" name="Shape 3"/>
          <p:cNvSpPr/>
          <p:nvPr/>
        </p:nvSpPr>
        <p:spPr>
          <a:xfrm>
            <a:off x="822960" y="3749040"/>
            <a:ext cx="2011680" cy="0"/>
          </a:xfrm>
          <a:prstGeom prst="line">
            <a:avLst/>
          </a:prstGeom>
          <a:noFill/>
          <a:ln w="25400">
            <a:solidFill>
              <a:srgbClr val="5DCAA5"/>
            </a:solidFill>
            <a:prstDash val="solid"/>
          </a:ln>
        </p:spPr>
      </p:sp>
      <p:sp>
        <p:nvSpPr>
          <p:cNvPr id="6" name="Text 4"/>
          <p:cNvSpPr/>
          <p:nvPr/>
        </p:nvSpPr>
        <p:spPr>
          <a:xfrm>
            <a:off x="822960" y="3977640"/>
            <a:ext cx="9144000" cy="365760"/>
          </a:xfrm>
          <a:prstGeom prst="rect">
            <a:avLst/>
          </a:prstGeom>
          <a:noFill/>
          <a:ln/>
        </p:spPr>
        <p:txBody>
          <a:bodyPr wrap="square" rtlCol="0" anchor="ctr"/>
          <a:lstStyle/>
          <a:p>
            <a:pPr marL="0" indent="0">
              <a:buNone/>
            </a:pPr>
            <a:r>
              <a:rPr lang="en-US" sz="1400" dirty="0">
                <a:solidFill>
                  <a:srgbClr val="E1F5EE"/>
                </a:solidFill>
                <a:latin typeface="Calibri" pitchFamily="34" charset="0"/>
                <a:ea typeface="Calibri" pitchFamily="34" charset="-122"/>
                <a:cs typeface="Calibri" pitchFamily="34" charset="-120"/>
              </a:rPr>
              <a:t>Shibla Nasreen  </a:t>
            </a:r>
            <a:r>
              <a:rPr lang="en-US" sz="1400" dirty="0" smtClean="0">
                <a:solidFill>
                  <a:srgbClr val="E1F5EE"/>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1162</Words>
  <Application>Microsoft Office PowerPoint</Application>
  <PresentationFormat>Widescreen</PresentationFormat>
  <Paragraphs>219</Paragraphs>
  <Slides>17</Slides>
  <Notes>17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17</vt:i4>
      </vt:variant>
    </vt:vector>
  </HeadingPairs>
  <TitlesOfParts>
    <vt:vector size="22"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Microsoft account</cp:lastModifiedBy>
  <cp:revision>2</cp:revision>
  <dcterms:created xsi:type="dcterms:W3CDTF">2026-07-13T00:43:14Z</dcterms:created>
  <dcterms:modified xsi:type="dcterms:W3CDTF">2026-07-13T08:50:37Z</dcterms:modified>
</cp:coreProperties>
</file>